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MediScribe Live is a voice-first assistant for the emergency department. A voice agent does the bedside intake. An ambient scribe records the consult. The SOAP note it writes links every line back to the words that were said, and nothing is final until a clinician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burden is real: in the Sinsky time-and-motion study, about half of clinic time went to EHR and desk work. AI scribes help with speed, but the trust problem stays. If you cannot see where a line came from, you must check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cards left to right. Steps one and two are the two voice modes. Step three is the note. Step four keeps a human in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say: my name is John Miller, crushing chest pain nine out of ten, I take warfarin and I took aspirin. The name updates, ESI goes to 2, and the drug alert fires. Point at the latency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of our test consult. The patient Maria Lopez gives her name, a two-day headache, a sulfa allergy and two home medicines. The chart fills from the final turns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idea to remember. If a line cannot point to a transcript turn, the note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trust the model's citations. The server re-checks every one against the turn text. This is the part that makes the note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SOAP note from the same test consult, after sign-off. Nine of nine items have a verified source. Heart rate, SpO2 and temperature were not said, so the note does not invent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are in the server code, not only in the prompt. For example, if the LLM fails, the route returns an error instead of a fake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streams audio straight to AssemblyAI for low overhead. Our server only mints tokens, runs the drug check, and makes the SOAP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time and trust together. Next steps are honest: better model access, a real drug database, compliant hosting and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app is live, and the code is open source under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812800" y="1544340"/>
            <a:ext cx="504926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0B981"/>
                </a:solidFill>
                <a:latin typeface="JetBrains Mono" pitchFamily="34" charset="0"/>
                <a:ea typeface="JetBrains Mono" pitchFamily="34" charset="-122"/>
                <a:cs typeface="JetBrains Mono" pitchFamily="34" charset="-120"/>
              </a:rPr>
              <a:t>ASSEMBLYAI VOICE AGENT HACKATHON</a:t>
            </a:r>
            <a:endParaRPr lang="en-US" sz="1200" dirty="0"/>
          </a:p>
        </p:txBody>
      </p:sp>
      <p:sp>
        <p:nvSpPr>
          <p:cNvPr id="3" name="Text 1"/>
          <p:cNvSpPr/>
          <p:nvPr/>
        </p:nvSpPr>
        <p:spPr>
          <a:xfrm>
            <a:off x="812800" y="2011660"/>
            <a:ext cx="5049266" cy="14478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EEF2F6"/>
                </a:solidFill>
                <a:latin typeface="IBM Plex Sans" pitchFamily="34" charset="0"/>
                <a:ea typeface="IBM Plex Sans" pitchFamily="34" charset="-122"/>
                <a:cs typeface="IBM Plex Sans" pitchFamily="34" charset="-120"/>
              </a:rPr>
              <a:t>MediScribe Live</a:t>
            </a:r>
            <a:endParaRPr lang="en-US" sz="5600" dirty="0"/>
          </a:p>
        </p:txBody>
      </p:sp>
      <p:sp>
        <p:nvSpPr>
          <p:cNvPr id="4" name="Text 2"/>
          <p:cNvSpPr/>
          <p:nvPr/>
        </p:nvSpPr>
        <p:spPr>
          <a:xfrm>
            <a:off x="812800" y="3688060"/>
            <a:ext cx="5049266"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E"/>
                </a:solidFill>
                <a:latin typeface="IBM Plex Sans" pitchFamily="34" charset="0"/>
                <a:ea typeface="IBM Plex Sans" pitchFamily="34" charset="-122"/>
                <a:cs typeface="IBM Plex Sans" pitchFamily="34" charset="-120"/>
              </a:rPr>
              <a:t>Bedside voice triage that documents only what was said.</a:t>
            </a:r>
            <a:endParaRPr lang="en-US" sz="2000" dirty="0"/>
          </a:p>
        </p:txBody>
      </p:sp>
      <p:pic>
        <p:nvPicPr>
          <p:cNvPr id="5" name="Image 0" descr="Heartbeat line">    </p:cNvPr>
          <p:cNvPicPr>
            <a:picLocks noChangeAspect="1"/>
          </p:cNvPicPr>
          <p:nvPr/>
        </p:nvPicPr>
        <p:blipFill>
          <a:blip r:embed="rId1"/>
          <a:srcRect l="0" r="0" t="0" b="0"/>
          <a:stretch/>
        </p:blipFill>
        <p:spPr>
          <a:xfrm>
            <a:off x="812800" y="4602460"/>
            <a:ext cx="3302000" cy="508000"/>
          </a:xfrm>
          <a:prstGeom prst="rect">
            <a:avLst/>
          </a:prstGeom>
        </p:spPr>
      </p:pic>
      <p:pic>
        <p:nvPicPr>
          <p:cNvPr id="6" name="Image 1" descr="MediScribe Live home screen with the four-step workflow and the patient roster">    </p:cNvPr>
          <p:cNvPicPr>
            <a:picLocks noChangeAspect="1"/>
          </p:cNvPicPr>
          <p:nvPr/>
        </p:nvPicPr>
        <p:blipFill>
          <a:blip r:embed="rId2"/>
          <a:srcRect l="0" r="0" t="14" b="14"/>
          <a:stretch/>
        </p:blipFill>
        <p:spPr>
          <a:xfrm>
            <a:off x="6178550" y="1866900"/>
            <a:ext cx="5194300" cy="2921000"/>
          </a:xfrm>
          <a:prstGeom prst="rect">
            <a:avLst/>
          </a:prstGeom>
          <a:effectLst>
            <a:outerShdw sx="100000" sy="100000" kx="0" ky="0" algn="bl" rotWithShape="0" blurRad="406400" dist="152400" dir="5400000">
              <a:srgbClr val="000000">
                <a:alpha val="50000"/>
              </a:srgbClr>
            </a:outerShdw>
          </a:effectLst>
        </p:spPr>
      </p:pic>
      <p:sp>
        <p:nvSpPr>
          <p:cNvPr id="7" name="Shape 3"/>
          <p:cNvSpPr/>
          <p:nvPr/>
        </p:nvSpPr>
        <p:spPr>
          <a:xfrm>
            <a:off x="6175375" y="1863725"/>
            <a:ext cx="5200650" cy="2927350"/>
          </a:xfrm>
          <a:prstGeom prst="rect">
            <a:avLst/>
          </a:prstGeom>
          <a:noFill/>
          <a:ln w="6350">
            <a:solidFill>
              <a:srgbClr val="243040"/>
            </a:solidFill>
            <a:prstDash val="solid"/>
          </a:ln>
        </p:spPr>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8"/>
                </a:solidFill>
                <a:latin typeface="JetBrains Mono" pitchFamily="34" charset="0"/>
                <a:ea typeface="JetBrains Mono" pitchFamily="34" charset="-122"/>
                <a:cs typeface="JetBrains Mono" pitchFamily="34" charset="-120"/>
              </a:rPr>
              <a:t>mediscribe.rhasan.online · github.com/Daddy-Ousen/mediscribe-live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47857"/>
                </a:solidFill>
                <a:latin typeface="JetBrains Mono" pitchFamily="34" charset="0"/>
                <a:ea typeface="JetBrains Mono" pitchFamily="34" charset="-122"/>
                <a:cs typeface="JetBrains Mono" pitchFamily="34" charset="-120"/>
              </a:rPr>
              <a:t>THE PROBLEM</a:t>
            </a:r>
            <a:endParaRPr lang="en-US" sz="1200" dirty="0"/>
          </a:p>
        </p:txBody>
      </p:sp>
      <p:sp>
        <p:nvSpPr>
          <p:cNvPr id="3" name="Text 1"/>
          <p:cNvSpPr/>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0F1720"/>
                </a:solidFill>
                <a:latin typeface="IBM Plex Sans" pitchFamily="34" charset="0"/>
                <a:ea typeface="IBM Plex Sans" pitchFamily="34" charset="-122"/>
                <a:cs typeface="IBM Plex Sans" pitchFamily="34" charset="-120"/>
              </a:rPr>
              <a:t>Notes take the shift. Unchecked AI notes take the trust.</a:t>
            </a:r>
            <a:endParaRPr lang="en-US" sz="3200" dirty="0"/>
          </a:p>
        </p:txBody>
      </p:sp>
      <p:sp>
        <p:nvSpPr>
          <p:cNvPr id="4" name="Shape 2"/>
          <p:cNvSpPr/>
          <p:nvPr/>
        </p:nvSpPr>
        <p:spPr>
          <a:xfrm>
            <a:off x="815975" y="2060476"/>
            <a:ext cx="5124450" cy="3778349"/>
          </a:xfrm>
          <a:prstGeom prst="roundRect">
            <a:avLst>
              <a:gd name="adj" fmla="val 2605"/>
            </a:avLst>
          </a:prstGeom>
          <a:solidFill>
            <a:srgbClr val="FFFFFC"/>
          </a:solidFill>
          <a:ln w="6350">
            <a:solidFill>
              <a:srgbClr val="D9DED6"/>
            </a:solidFill>
            <a:prstDash val="solid"/>
          </a:ln>
        </p:spPr>
      </p:sp>
      <p:sp>
        <p:nvSpPr>
          <p:cNvPr id="5" name="Text 3"/>
          <p:cNvSpPr/>
          <p:nvPr/>
        </p:nvSpPr>
        <p:spPr>
          <a:xfrm>
            <a:off x="1123950" y="2368451"/>
            <a:ext cx="4643755"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047857"/>
                </a:solidFill>
                <a:latin typeface="IBM Plex Sans" pitchFamily="34" charset="0"/>
                <a:ea typeface="IBM Plex Sans" pitchFamily="34" charset="-122"/>
                <a:cs typeface="IBM Plex Sans" pitchFamily="34" charset="-120"/>
              </a:rPr>
              <a:t>49%</a:t>
            </a:r>
            <a:endParaRPr lang="en-US" sz="5600" dirty="0"/>
          </a:p>
        </p:txBody>
      </p:sp>
      <p:sp>
        <p:nvSpPr>
          <p:cNvPr id="6" name="Text 4"/>
          <p:cNvSpPr/>
          <p:nvPr/>
        </p:nvSpPr>
        <p:spPr>
          <a:xfrm>
            <a:off x="1123950" y="3206651"/>
            <a:ext cx="464375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C3A47"/>
                </a:solidFill>
                <a:latin typeface="IBM Plex Sans" pitchFamily="34" charset="0"/>
                <a:ea typeface="IBM Plex Sans" pitchFamily="34" charset="-122"/>
                <a:cs typeface="IBM Plex Sans" pitchFamily="34" charset="-120"/>
              </a:rPr>
              <a:t>of physicians' time in the clinic went to EHR and desk work. Only 27% went to direct time with patients.</a:t>
            </a:r>
            <a:endParaRPr lang="en-US" sz="1500" dirty="0"/>
          </a:p>
        </p:txBody>
      </p:sp>
      <p:sp>
        <p:nvSpPr>
          <p:cNvPr id="7" name="Text 5"/>
          <p:cNvSpPr/>
          <p:nvPr/>
        </p:nvSpPr>
        <p:spPr>
          <a:xfrm>
            <a:off x="1123950" y="5317530"/>
            <a:ext cx="46437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5"/>
                </a:solidFill>
                <a:latin typeface="IBM Plex Sans" pitchFamily="34" charset="0"/>
                <a:ea typeface="IBM Plex Sans" pitchFamily="34" charset="-122"/>
                <a:cs typeface="IBM Plex Sans" pitchFamily="34" charset="-120"/>
              </a:rPr>
              <a:t>Sinsky et al., Annals of Internal Medicine, 2016</a:t>
            </a:r>
            <a:endParaRPr lang="en-US" sz="1200" dirty="0"/>
          </a:p>
        </p:txBody>
      </p:sp>
      <p:sp>
        <p:nvSpPr>
          <p:cNvPr id="8" name="Shape 6"/>
          <p:cNvSpPr/>
          <p:nvPr/>
        </p:nvSpPr>
        <p:spPr>
          <a:xfrm>
            <a:off x="6251575" y="2060476"/>
            <a:ext cx="5124450" cy="3778349"/>
          </a:xfrm>
          <a:prstGeom prst="roundRect">
            <a:avLst>
              <a:gd name="adj" fmla="val 2605"/>
            </a:avLst>
          </a:prstGeom>
          <a:solidFill>
            <a:srgbClr val="FFFFFC"/>
          </a:solidFill>
          <a:ln w="6350">
            <a:solidFill>
              <a:srgbClr val="D9DED6"/>
            </a:solidFill>
            <a:prstDash val="solid"/>
          </a:ln>
        </p:spPr>
      </p:sp>
      <p:sp>
        <p:nvSpPr>
          <p:cNvPr id="9" name="Text 7"/>
          <p:cNvSpPr/>
          <p:nvPr/>
        </p:nvSpPr>
        <p:spPr>
          <a:xfrm>
            <a:off x="6559550" y="2368451"/>
            <a:ext cx="4643755"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720"/>
                </a:solidFill>
                <a:latin typeface="IBM Plex Sans" pitchFamily="34" charset="0"/>
                <a:ea typeface="IBM Plex Sans" pitchFamily="34" charset="-122"/>
                <a:cs typeface="IBM Plex Sans" pitchFamily="34" charset="-120"/>
              </a:rPr>
              <a:t>AI scribes write fast. Clinicians still cannot trust them.</a:t>
            </a:r>
            <a:endParaRPr lang="en-US" sz="2000" dirty="0"/>
          </a:p>
        </p:txBody>
      </p:sp>
      <p:sp>
        <p:nvSpPr>
          <p:cNvPr id="10" name="Text 8"/>
          <p:cNvSpPr/>
          <p:nvPr/>
        </p:nvSpPr>
        <p:spPr>
          <a:xfrm>
            <a:off x="6559550" y="3155851"/>
            <a:ext cx="46437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C3A47"/>
                </a:solidFill>
                <a:latin typeface="IBM Plex Sans" pitchFamily="34" charset="0"/>
                <a:ea typeface="IBM Plex Sans" pitchFamily="34" charset="-122"/>
                <a:cs typeface="IBM Plex Sans" pitchFamily="34" charset="-120"/>
              </a:rPr>
              <a:t>A generated note can add an allergy, a dose or a diagnosis that nobody said.</a:t>
            </a:r>
            <a:endParaRPr lang="en-US" sz="1500" dirty="0"/>
          </a:p>
        </p:txBody>
      </p:sp>
      <p:sp>
        <p:nvSpPr>
          <p:cNvPr id="11" name="Text 9"/>
          <p:cNvSpPr/>
          <p:nvPr/>
        </p:nvSpPr>
        <p:spPr>
          <a:xfrm>
            <a:off x="6559550" y="3867051"/>
            <a:ext cx="46437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C3A47"/>
                </a:solidFill>
                <a:latin typeface="IBM Plex Sans" pitchFamily="34" charset="0"/>
                <a:ea typeface="IBM Plex Sans" pitchFamily="34" charset="-122"/>
                <a:cs typeface="IBM Plex Sans" pitchFamily="34" charset="-120"/>
              </a:rPr>
              <a:t>If a line has no source, the clinician must re-check the whole note. The time saving is lost.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0B981"/>
                </a:solidFill>
                <a:latin typeface="JetBrains Mono" pitchFamily="34" charset="0"/>
                <a:ea typeface="JetBrains Mono" pitchFamily="34" charset="-122"/>
                <a:cs typeface="JetBrains Mono" pitchFamily="34" charset="-120"/>
              </a:rPr>
              <a:t>THE WORKFLOW</a:t>
            </a:r>
            <a:endParaRPr lang="en-US" sz="1200" dirty="0"/>
          </a:p>
        </p:txBody>
      </p:sp>
      <p:sp>
        <p:nvSpPr>
          <p:cNvPr id="3" name="Text 1"/>
          <p:cNvSpPr/>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EEF2F6"/>
                </a:solidFill>
                <a:latin typeface="IBM Plex Sans" pitchFamily="34" charset="0"/>
                <a:ea typeface="IBM Plex Sans" pitchFamily="34" charset="-122"/>
                <a:cs typeface="IBM Plex Sans" pitchFamily="34" charset="-120"/>
              </a:rPr>
              <a:t>Four steps, one patient chart</a:t>
            </a:r>
            <a:endParaRPr lang="en-US" sz="3200" dirty="0"/>
          </a:p>
        </p:txBody>
      </p:sp>
      <p:sp>
        <p:nvSpPr>
          <p:cNvPr id="4" name="Shape 2"/>
          <p:cNvSpPr/>
          <p:nvPr/>
        </p:nvSpPr>
        <p:spPr>
          <a:xfrm>
            <a:off x="815975" y="2060476"/>
            <a:ext cx="2520950" cy="2436713"/>
          </a:xfrm>
          <a:prstGeom prst="roundRect">
            <a:avLst>
              <a:gd name="adj" fmla="val 4039"/>
            </a:avLst>
          </a:prstGeom>
          <a:solidFill>
            <a:srgbClr val="131A23"/>
          </a:solidFill>
          <a:ln w="6350">
            <a:solidFill>
              <a:srgbClr val="243040"/>
            </a:solidFill>
            <a:prstDash val="solid"/>
          </a:ln>
        </p:spPr>
      </p:sp>
      <p:sp>
        <p:nvSpPr>
          <p:cNvPr id="5" name="Text 3"/>
          <p:cNvSpPr/>
          <p:nvPr/>
        </p:nvSpPr>
        <p:spPr>
          <a:xfrm>
            <a:off x="1047750" y="22922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B981"/>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1047750" y="2607171"/>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6"/>
                </a:solidFill>
                <a:latin typeface="IBM Plex Sans" pitchFamily="34" charset="0"/>
                <a:ea typeface="IBM Plex Sans" pitchFamily="34" charset="-122"/>
                <a:cs typeface="IBM Plex Sans" pitchFamily="34" charset="-120"/>
              </a:rPr>
              <a:t>Voice intake</a:t>
            </a:r>
            <a:endParaRPr lang="en-US" sz="1800" dirty="0"/>
          </a:p>
        </p:txBody>
      </p:sp>
      <p:sp>
        <p:nvSpPr>
          <p:cNvPr id="7" name="Text 5"/>
          <p:cNvSpPr/>
          <p:nvPr/>
        </p:nvSpPr>
        <p:spPr>
          <a:xfrm>
            <a:off x="1047750" y="2983012"/>
            <a:ext cx="211912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8B8"/>
                </a:solidFill>
                <a:latin typeface="IBM Plex Sans" pitchFamily="34" charset="0"/>
                <a:ea typeface="IBM Plex Sans" pitchFamily="34" charset="-122"/>
                <a:cs typeface="IBM Plex Sans" pitchFamily="34" charset="-120"/>
              </a:rPr>
              <a:t>A voice agent talks with the patient and calls clinical tools.</a:t>
            </a:r>
            <a:endParaRPr lang="en-US" sz="1300" dirty="0"/>
          </a:p>
        </p:txBody>
      </p:sp>
      <p:sp>
        <p:nvSpPr>
          <p:cNvPr id="8" name="Text 6"/>
          <p:cNvSpPr/>
          <p:nvPr/>
        </p:nvSpPr>
        <p:spPr>
          <a:xfrm>
            <a:off x="1047750" y="3777853"/>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E"/>
                </a:solidFill>
                <a:latin typeface="JetBrains Mono" pitchFamily="34" charset="0"/>
                <a:ea typeface="JetBrains Mono" pitchFamily="34" charset="-122"/>
                <a:cs typeface="JetBrains Mono" pitchFamily="34" charset="-120"/>
              </a:rPr>
              <a:t>Voice Agent API</a:t>
            </a:r>
            <a:endParaRPr lang="en-US" sz="1200" dirty="0"/>
          </a:p>
        </p:txBody>
      </p:sp>
      <p:sp>
        <p:nvSpPr>
          <p:cNvPr id="9" name="Shape 7"/>
          <p:cNvSpPr/>
          <p:nvPr/>
        </p:nvSpPr>
        <p:spPr>
          <a:xfrm>
            <a:off x="3495675" y="2060476"/>
            <a:ext cx="2520950" cy="2436713"/>
          </a:xfrm>
          <a:prstGeom prst="roundRect">
            <a:avLst>
              <a:gd name="adj" fmla="val 4039"/>
            </a:avLst>
          </a:prstGeom>
          <a:solidFill>
            <a:srgbClr val="131A23"/>
          </a:solidFill>
          <a:ln w="6350">
            <a:solidFill>
              <a:srgbClr val="243040"/>
            </a:solidFill>
            <a:prstDash val="solid"/>
          </a:ln>
        </p:spPr>
      </p:sp>
      <p:sp>
        <p:nvSpPr>
          <p:cNvPr id="10" name="Text 8"/>
          <p:cNvSpPr/>
          <p:nvPr/>
        </p:nvSpPr>
        <p:spPr>
          <a:xfrm>
            <a:off x="3727450" y="22922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B981"/>
                </a:solidFill>
                <a:latin typeface="JetBrains Mono" pitchFamily="34" charset="0"/>
                <a:ea typeface="JetBrains Mono" pitchFamily="34" charset="-122"/>
                <a:cs typeface="JetBrains Mono" pitchFamily="34" charset="-120"/>
              </a:rPr>
              <a:t>02</a:t>
            </a:r>
            <a:endParaRPr lang="en-US" sz="1200" dirty="0"/>
          </a:p>
        </p:txBody>
      </p:sp>
      <p:sp>
        <p:nvSpPr>
          <p:cNvPr id="11" name="Text 9"/>
          <p:cNvSpPr/>
          <p:nvPr/>
        </p:nvSpPr>
        <p:spPr>
          <a:xfrm>
            <a:off x="3727450" y="2607171"/>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6"/>
                </a:solidFill>
                <a:latin typeface="IBM Plex Sans" pitchFamily="34" charset="0"/>
                <a:ea typeface="IBM Plex Sans" pitchFamily="34" charset="-122"/>
                <a:cs typeface="IBM Plex Sans" pitchFamily="34" charset="-120"/>
              </a:rPr>
              <a:t>Ambient scribe</a:t>
            </a:r>
            <a:endParaRPr lang="en-US" sz="1800" dirty="0"/>
          </a:p>
        </p:txBody>
      </p:sp>
      <p:sp>
        <p:nvSpPr>
          <p:cNvPr id="12" name="Text 10"/>
          <p:cNvSpPr/>
          <p:nvPr/>
        </p:nvSpPr>
        <p:spPr>
          <a:xfrm>
            <a:off x="3727450" y="2983012"/>
            <a:ext cx="211912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8B8"/>
                </a:solidFill>
                <a:latin typeface="IBM Plex Sans" pitchFamily="34" charset="0"/>
                <a:ea typeface="IBM Plex Sans" pitchFamily="34" charset="-122"/>
                <a:cs typeface="IBM Plex Sans" pitchFamily="34" charset="-120"/>
              </a:rPr>
              <a:t>Records the consult. Separates doctor and patient.</a:t>
            </a:r>
            <a:endParaRPr lang="en-US" sz="1300" dirty="0"/>
          </a:p>
        </p:txBody>
      </p:sp>
      <p:sp>
        <p:nvSpPr>
          <p:cNvPr id="13" name="Text 11"/>
          <p:cNvSpPr/>
          <p:nvPr/>
        </p:nvSpPr>
        <p:spPr>
          <a:xfrm>
            <a:off x="3727450" y="3777853"/>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E"/>
                </a:solidFill>
                <a:latin typeface="JetBrains Mono" pitchFamily="34" charset="0"/>
                <a:ea typeface="JetBrains Mono" pitchFamily="34" charset="-122"/>
                <a:cs typeface="JetBrains Mono" pitchFamily="34" charset="-120"/>
              </a:rPr>
              <a:t>Streaming STT</a:t>
            </a:r>
            <a:endParaRPr lang="en-US" sz="1200" dirty="0"/>
          </a:p>
        </p:txBody>
      </p:sp>
      <p:sp>
        <p:nvSpPr>
          <p:cNvPr id="14" name="Shape 12"/>
          <p:cNvSpPr/>
          <p:nvPr/>
        </p:nvSpPr>
        <p:spPr>
          <a:xfrm>
            <a:off x="6175375" y="2060476"/>
            <a:ext cx="2520950" cy="2436713"/>
          </a:xfrm>
          <a:prstGeom prst="roundRect">
            <a:avLst>
              <a:gd name="adj" fmla="val 4039"/>
            </a:avLst>
          </a:prstGeom>
          <a:solidFill>
            <a:srgbClr val="131A23"/>
          </a:solidFill>
          <a:ln w="6350">
            <a:solidFill>
              <a:srgbClr val="243040"/>
            </a:solidFill>
            <a:prstDash val="solid"/>
          </a:ln>
        </p:spPr>
      </p:sp>
      <p:sp>
        <p:nvSpPr>
          <p:cNvPr id="15" name="Text 13"/>
          <p:cNvSpPr/>
          <p:nvPr/>
        </p:nvSpPr>
        <p:spPr>
          <a:xfrm>
            <a:off x="6407150" y="22922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B981"/>
                </a:solidFill>
                <a:latin typeface="JetBrains Mono" pitchFamily="34" charset="0"/>
                <a:ea typeface="JetBrains Mono" pitchFamily="34" charset="-122"/>
                <a:cs typeface="JetBrains Mono" pitchFamily="34" charset="-120"/>
              </a:rPr>
              <a:t>03</a:t>
            </a:r>
            <a:endParaRPr lang="en-US" sz="1200" dirty="0"/>
          </a:p>
        </p:txBody>
      </p:sp>
      <p:sp>
        <p:nvSpPr>
          <p:cNvPr id="16" name="Text 14"/>
          <p:cNvSpPr/>
          <p:nvPr/>
        </p:nvSpPr>
        <p:spPr>
          <a:xfrm>
            <a:off x="6407150" y="2607171"/>
            <a:ext cx="2119122"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6"/>
                </a:solidFill>
                <a:latin typeface="IBM Plex Sans" pitchFamily="34" charset="0"/>
                <a:ea typeface="IBM Plex Sans" pitchFamily="34" charset="-122"/>
                <a:cs typeface="IBM Plex Sans" pitchFamily="34" charset="-120"/>
              </a:rPr>
              <a:t>Source-linked SOAP</a:t>
            </a:r>
            <a:endParaRPr lang="en-US" sz="1800" dirty="0"/>
          </a:p>
        </p:txBody>
      </p:sp>
      <p:sp>
        <p:nvSpPr>
          <p:cNvPr id="17" name="Text 15"/>
          <p:cNvSpPr/>
          <p:nvPr/>
        </p:nvSpPr>
        <p:spPr>
          <a:xfrm>
            <a:off x="6407150" y="3257252"/>
            <a:ext cx="211912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8B8"/>
                </a:solidFill>
                <a:latin typeface="IBM Plex Sans" pitchFamily="34" charset="0"/>
                <a:ea typeface="IBM Plex Sans" pitchFamily="34" charset="-122"/>
                <a:cs typeface="IBM Plex Sans" pitchFamily="34" charset="-120"/>
              </a:rPr>
              <a:t>Every line cites the transcript turn it came from.</a:t>
            </a:r>
            <a:endParaRPr lang="en-US" sz="1300" dirty="0"/>
          </a:p>
        </p:txBody>
      </p:sp>
      <p:sp>
        <p:nvSpPr>
          <p:cNvPr id="18" name="Text 16"/>
          <p:cNvSpPr/>
          <p:nvPr/>
        </p:nvSpPr>
        <p:spPr>
          <a:xfrm>
            <a:off x="6407150" y="4052094"/>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E"/>
                </a:solidFill>
                <a:latin typeface="JetBrains Mono" pitchFamily="34" charset="0"/>
                <a:ea typeface="JetBrains Mono" pitchFamily="34" charset="-122"/>
                <a:cs typeface="JetBrains Mono" pitchFamily="34" charset="-120"/>
              </a:rPr>
              <a:t>LLM Gateway</a:t>
            </a:r>
            <a:endParaRPr lang="en-US" sz="1200" dirty="0"/>
          </a:p>
        </p:txBody>
      </p:sp>
      <p:sp>
        <p:nvSpPr>
          <p:cNvPr id="19" name="Shape 17"/>
          <p:cNvSpPr/>
          <p:nvPr/>
        </p:nvSpPr>
        <p:spPr>
          <a:xfrm>
            <a:off x="8855075" y="2060476"/>
            <a:ext cx="2520950" cy="2436713"/>
          </a:xfrm>
          <a:prstGeom prst="roundRect">
            <a:avLst>
              <a:gd name="adj" fmla="val 4039"/>
            </a:avLst>
          </a:prstGeom>
          <a:solidFill>
            <a:srgbClr val="131A23"/>
          </a:solidFill>
          <a:ln w="6350">
            <a:solidFill>
              <a:srgbClr val="243040"/>
            </a:solidFill>
            <a:prstDash val="solid"/>
          </a:ln>
        </p:spPr>
      </p:sp>
      <p:sp>
        <p:nvSpPr>
          <p:cNvPr id="20" name="Text 18"/>
          <p:cNvSpPr/>
          <p:nvPr/>
        </p:nvSpPr>
        <p:spPr>
          <a:xfrm>
            <a:off x="9086850" y="22922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B981"/>
                </a:solidFill>
                <a:latin typeface="JetBrains Mono" pitchFamily="34" charset="0"/>
                <a:ea typeface="JetBrains Mono" pitchFamily="34" charset="-122"/>
                <a:cs typeface="JetBrains Mono" pitchFamily="34" charset="-120"/>
              </a:rPr>
              <a:t>04</a:t>
            </a:r>
            <a:endParaRPr lang="en-US" sz="1200" dirty="0"/>
          </a:p>
        </p:txBody>
      </p:sp>
      <p:sp>
        <p:nvSpPr>
          <p:cNvPr id="21" name="Text 19"/>
          <p:cNvSpPr/>
          <p:nvPr/>
        </p:nvSpPr>
        <p:spPr>
          <a:xfrm>
            <a:off x="9086850" y="2607171"/>
            <a:ext cx="211912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6"/>
                </a:solidFill>
                <a:latin typeface="IBM Plex Sans" pitchFamily="34" charset="0"/>
                <a:ea typeface="IBM Plex Sans" pitchFamily="34" charset="-122"/>
                <a:cs typeface="IBM Plex Sans" pitchFamily="34" charset="-120"/>
              </a:rPr>
              <a:t>Clinician sign-off</a:t>
            </a:r>
            <a:endParaRPr lang="en-US" sz="1800" dirty="0"/>
          </a:p>
        </p:txBody>
      </p:sp>
      <p:sp>
        <p:nvSpPr>
          <p:cNvPr id="22" name="Text 20"/>
          <p:cNvSpPr/>
          <p:nvPr/>
        </p:nvSpPr>
        <p:spPr>
          <a:xfrm>
            <a:off x="9086850" y="2983012"/>
            <a:ext cx="211912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8B8"/>
                </a:solidFill>
                <a:latin typeface="IBM Plex Sans" pitchFamily="34" charset="0"/>
                <a:ea typeface="IBM Plex Sans" pitchFamily="34" charset="-122"/>
                <a:cs typeface="IBM Plex Sans" pitchFamily="34" charset="-120"/>
              </a:rPr>
              <a:t>Draft until a named clinician signs. Exports HL7 FHIR R4.</a:t>
            </a:r>
            <a:endParaRPr lang="en-US" sz="1300" dirty="0"/>
          </a:p>
        </p:txBody>
      </p:sp>
      <p:sp>
        <p:nvSpPr>
          <p:cNvPr id="23" name="Text 21"/>
          <p:cNvSpPr/>
          <p:nvPr/>
        </p:nvSpPr>
        <p:spPr>
          <a:xfrm>
            <a:off x="9086850" y="3777853"/>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E"/>
                </a:solidFill>
                <a:latin typeface="JetBrains Mono" pitchFamily="34" charset="0"/>
                <a:ea typeface="JetBrains Mono" pitchFamily="34" charset="-122"/>
                <a:cs typeface="JetBrains Mono" pitchFamily="34" charset="-120"/>
              </a:rPr>
              <a:t>FHIR Bundle</a:t>
            </a:r>
            <a:endParaRPr lang="en-US" sz="1200" dirty="0"/>
          </a:p>
        </p:txBody>
      </p:sp>
      <p:sp>
        <p:nvSpPr>
          <p:cNvPr id="24" name="Text 22"/>
          <p:cNvSpPr/>
          <p:nvPr/>
        </p:nvSpPr>
        <p:spPr>
          <a:xfrm>
            <a:off x="812800" y="495756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E"/>
                </a:solidFill>
                <a:latin typeface="IBM Plex Sans" pitchFamily="34" charset="0"/>
                <a:ea typeface="IBM Plex Sans" pitchFamily="34" charset="-122"/>
                <a:cs typeface="IBM Plex Sans" pitchFamily="34" charset="-120"/>
              </a:rPr>
              <a:t>Both voice modes write to the same chart: name, complaint, vitals, medicines, allergies and ESI acuity.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0B981"/>
                </a:solidFill>
                <a:latin typeface="JetBrains Mono" pitchFamily="34" charset="0"/>
                <a:ea typeface="JetBrains Mono" pitchFamily="34" charset="-122"/>
                <a:cs typeface="JetBrains Mono" pitchFamily="34" charset="-120"/>
              </a:rPr>
              <a:t>01 · ASSEMBLYAI VOICE AGENT API</a:t>
            </a:r>
            <a:endParaRPr lang="en-US" sz="1200" dirty="0"/>
          </a:p>
        </p:txBody>
      </p:sp>
      <p:sp>
        <p:nvSpPr>
          <p:cNvPr id="3" name="Text 1"/>
          <p:cNvSpPr/>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EEF2F6"/>
                </a:solidFill>
                <a:latin typeface="IBM Plex Sans" pitchFamily="34" charset="0"/>
                <a:ea typeface="IBM Plex Sans" pitchFamily="34" charset="-122"/>
                <a:cs typeface="IBM Plex Sans" pitchFamily="34" charset="-120"/>
              </a:rPr>
              <a:t>The voice agent runs bedside intake</a:t>
            </a:r>
            <a:endParaRPr lang="en-US" sz="3200" dirty="0"/>
          </a:p>
        </p:txBody>
      </p:sp>
      <p:sp>
        <p:nvSpPr>
          <p:cNvPr id="4" name="Text 2"/>
          <p:cNvSpPr/>
          <p:nvPr/>
        </p:nvSpPr>
        <p:spPr>
          <a:xfrm>
            <a:off x="812800" y="2006501"/>
            <a:ext cx="52324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E"/>
                </a:solidFill>
                <a:latin typeface="IBM Plex Sans" pitchFamily="34" charset="0"/>
                <a:ea typeface="IBM Plex Sans" pitchFamily="34" charset="-122"/>
                <a:cs typeface="IBM Plex Sans" pitchFamily="34" charset="-120"/>
              </a:rPr>
              <a:t>Full-duplex talk over one WebSocket. The patient can interrupt, and the agent stops speaking at once.</a:t>
            </a:r>
            <a:endParaRPr lang="en-US" sz="1500" dirty="0"/>
          </a:p>
        </p:txBody>
      </p:sp>
      <p:sp>
        <p:nvSpPr>
          <p:cNvPr id="5" name="Text 3"/>
          <p:cNvSpPr/>
          <p:nvPr/>
        </p:nvSpPr>
        <p:spPr>
          <a:xfrm>
            <a:off x="812800" y="2717701"/>
            <a:ext cx="52324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E"/>
                </a:solidFill>
                <a:latin typeface="IBM Plex Sans" pitchFamily="34" charset="0"/>
                <a:ea typeface="IBM Plex Sans" pitchFamily="34" charset="-122"/>
                <a:cs typeface="IBM Plex Sans" pitchFamily="34" charset="-120"/>
              </a:rPr>
              <a:t>While it talks, the agent calls tools. The chart and the alerts update live.</a:t>
            </a:r>
            <a:endParaRPr lang="en-US" sz="1500" dirty="0"/>
          </a:p>
        </p:txBody>
      </p:sp>
      <p:sp>
        <p:nvSpPr>
          <p:cNvPr id="6" name="Shape 4"/>
          <p:cNvSpPr/>
          <p:nvPr/>
        </p:nvSpPr>
        <p:spPr>
          <a:xfrm>
            <a:off x="815975" y="4847134"/>
            <a:ext cx="5073650" cy="1194891"/>
          </a:xfrm>
          <a:prstGeom prst="roundRect">
            <a:avLst>
              <a:gd name="adj" fmla="val 6111"/>
            </a:avLst>
          </a:prstGeom>
          <a:solidFill>
            <a:srgbClr val="131A23"/>
          </a:solidFill>
          <a:ln w="6350">
            <a:solidFill>
              <a:srgbClr val="243040"/>
            </a:solidFill>
            <a:prstDash val="solid"/>
          </a:ln>
        </p:spPr>
      </p:sp>
      <p:sp>
        <p:nvSpPr>
          <p:cNvPr id="7" name="Text 5"/>
          <p:cNvSpPr/>
          <p:nvPr/>
        </p:nvSpPr>
        <p:spPr>
          <a:xfrm>
            <a:off x="1022350" y="5053509"/>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6"/>
                </a:solidFill>
                <a:latin typeface="IBM Plex Sans" pitchFamily="34" charset="0"/>
                <a:ea typeface="IBM Plex Sans" pitchFamily="34" charset="-122"/>
                <a:cs typeface="IBM Plex Sans" pitchFamily="34" charset="-120"/>
              </a:rPr>
              <a:t>Latency is measured, not claimed</a:t>
            </a:r>
            <a:endParaRPr lang="en-US" sz="1600" dirty="0"/>
          </a:p>
        </p:txBody>
      </p:sp>
      <p:sp>
        <p:nvSpPr>
          <p:cNvPr id="8" name="Text 6"/>
          <p:cNvSpPr/>
          <p:nvPr/>
        </p:nvSpPr>
        <p:spPr>
          <a:xfrm>
            <a:off x="1022350" y="5373489"/>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8B8"/>
                </a:solidFill>
                <a:latin typeface="IBM Plex Sans" pitchFamily="34" charset="0"/>
                <a:ea typeface="IBM Plex Sans" pitchFamily="34" charset="-122"/>
                <a:cs typeface="IBM Plex Sans" pitchFamily="34" charset="-120"/>
              </a:rPr>
              <a:t>The panel shows the time from end of speech to the first agent audio: last value and median.</a:t>
            </a:r>
            <a:endParaRPr lang="en-US" sz="1300" dirty="0"/>
          </a:p>
        </p:txBody>
      </p:sp>
      <p:sp>
        <p:nvSpPr>
          <p:cNvPr id="9" name="Shape 7"/>
          <p:cNvSpPr/>
          <p:nvPr/>
        </p:nvSpPr>
        <p:spPr>
          <a:xfrm>
            <a:off x="6302375" y="2009676"/>
            <a:ext cx="5073650" cy="925711"/>
          </a:xfrm>
          <a:prstGeom prst="roundRect">
            <a:avLst>
              <a:gd name="adj" fmla="val 7889"/>
            </a:avLst>
          </a:prstGeom>
          <a:solidFill>
            <a:srgbClr val="131A23"/>
          </a:solidFill>
          <a:ln w="6350">
            <a:solidFill>
              <a:srgbClr val="243040"/>
            </a:solidFill>
            <a:prstDash val="solid"/>
          </a:ln>
        </p:spPr>
      </p:sp>
      <p:sp>
        <p:nvSpPr>
          <p:cNvPr id="10" name="Text 8"/>
          <p:cNvSpPr/>
          <p:nvPr/>
        </p:nvSpPr>
        <p:spPr>
          <a:xfrm>
            <a:off x="6508750" y="2216051"/>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FD3AE"/>
                </a:solidFill>
                <a:latin typeface="JetBrains Mono" pitchFamily="34" charset="0"/>
                <a:ea typeface="JetBrains Mono" pitchFamily="34" charset="-122"/>
                <a:cs typeface="JetBrains Mono" pitchFamily="34" charset="-120"/>
              </a:rPr>
              <a:t>record_patient_intake</a:t>
            </a:r>
            <a:endParaRPr lang="en-US" sz="1300" dirty="0"/>
          </a:p>
        </p:txBody>
      </p:sp>
      <p:sp>
        <p:nvSpPr>
          <p:cNvPr id="11" name="Text 9"/>
          <p:cNvSpPr/>
          <p:nvPr/>
        </p:nvSpPr>
        <p:spPr>
          <a:xfrm>
            <a:off x="6508750" y="2497931"/>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DE"/>
                </a:solidFill>
                <a:latin typeface="IBM Plex Sans" pitchFamily="34" charset="0"/>
                <a:ea typeface="IBM Plex Sans" pitchFamily="34" charset="-122"/>
                <a:cs typeface="IBM Plex Sans" pitchFamily="34" charset="-120"/>
              </a:rPr>
              <a:t>Name, age, complaint, pain score and vitals go into the chart.</a:t>
            </a:r>
            <a:endParaRPr lang="en-US" sz="1300" dirty="0"/>
          </a:p>
        </p:txBody>
      </p:sp>
      <p:sp>
        <p:nvSpPr>
          <p:cNvPr id="12" name="Shape 10"/>
          <p:cNvSpPr/>
          <p:nvPr/>
        </p:nvSpPr>
        <p:spPr>
          <a:xfrm>
            <a:off x="6302375" y="3068737"/>
            <a:ext cx="5073650" cy="925711"/>
          </a:xfrm>
          <a:prstGeom prst="roundRect">
            <a:avLst>
              <a:gd name="adj" fmla="val 7889"/>
            </a:avLst>
          </a:prstGeom>
          <a:solidFill>
            <a:srgbClr val="131A23"/>
          </a:solidFill>
          <a:ln w="6350">
            <a:solidFill>
              <a:srgbClr val="243040"/>
            </a:solidFill>
            <a:prstDash val="solid"/>
          </a:ln>
        </p:spPr>
      </p:sp>
      <p:sp>
        <p:nvSpPr>
          <p:cNvPr id="13" name="Text 11"/>
          <p:cNvSpPr/>
          <p:nvPr/>
        </p:nvSpPr>
        <p:spPr>
          <a:xfrm>
            <a:off x="6508750" y="3275112"/>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FD3AE"/>
                </a:solidFill>
                <a:latin typeface="JetBrains Mono" pitchFamily="34" charset="0"/>
                <a:ea typeface="JetBrains Mono" pitchFamily="34" charset="-122"/>
                <a:cs typeface="JetBrains Mono" pitchFamily="34" charset="-120"/>
              </a:rPr>
              <a:t>check_drug_interaction</a:t>
            </a:r>
            <a:endParaRPr lang="en-US" sz="1300" dirty="0"/>
          </a:p>
        </p:txBody>
      </p:sp>
      <p:sp>
        <p:nvSpPr>
          <p:cNvPr id="14" name="Text 12"/>
          <p:cNvSpPr/>
          <p:nvPr/>
        </p:nvSpPr>
        <p:spPr>
          <a:xfrm>
            <a:off x="6508750" y="3556992"/>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DE"/>
                </a:solidFill>
                <a:latin typeface="IBM Plex Sans" pitchFamily="34" charset="0"/>
                <a:ea typeface="IBM Plex Sans" pitchFamily="34" charset="-122"/>
                <a:cs typeface="IBM Plex Sans" pitchFamily="34" charset="-120"/>
              </a:rPr>
              <a:t>Example: warfarin + aspirin raises a bleeding-risk alert.</a:t>
            </a:r>
            <a:endParaRPr lang="en-US" sz="1300" dirty="0"/>
          </a:p>
        </p:txBody>
      </p:sp>
      <p:sp>
        <p:nvSpPr>
          <p:cNvPr id="15" name="Shape 13"/>
          <p:cNvSpPr/>
          <p:nvPr/>
        </p:nvSpPr>
        <p:spPr>
          <a:xfrm>
            <a:off x="6302375" y="4127798"/>
            <a:ext cx="5073650" cy="925711"/>
          </a:xfrm>
          <a:prstGeom prst="roundRect">
            <a:avLst>
              <a:gd name="adj" fmla="val 7889"/>
            </a:avLst>
          </a:prstGeom>
          <a:solidFill>
            <a:srgbClr val="131A23"/>
          </a:solidFill>
          <a:ln w="6350">
            <a:solidFill>
              <a:srgbClr val="243040"/>
            </a:solidFill>
            <a:prstDash val="solid"/>
          </a:ln>
        </p:spPr>
      </p:sp>
      <p:sp>
        <p:nvSpPr>
          <p:cNvPr id="16" name="Text 14"/>
          <p:cNvSpPr/>
          <p:nvPr/>
        </p:nvSpPr>
        <p:spPr>
          <a:xfrm>
            <a:off x="6508750" y="433417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FD3AE"/>
                </a:solidFill>
                <a:latin typeface="JetBrains Mono" pitchFamily="34" charset="0"/>
                <a:ea typeface="JetBrains Mono" pitchFamily="34" charset="-122"/>
                <a:cs typeface="JetBrains Mono" pitchFamily="34" charset="-120"/>
              </a:rPr>
              <a:t>flag_critical_vital</a:t>
            </a:r>
            <a:endParaRPr lang="en-US" sz="1300" dirty="0"/>
          </a:p>
        </p:txBody>
      </p:sp>
      <p:sp>
        <p:nvSpPr>
          <p:cNvPr id="17" name="Text 15"/>
          <p:cNvSpPr/>
          <p:nvPr/>
        </p:nvSpPr>
        <p:spPr>
          <a:xfrm>
            <a:off x="6508750" y="461605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DE"/>
                </a:solidFill>
                <a:latin typeface="IBM Plex Sans" pitchFamily="34" charset="0"/>
                <a:ea typeface="IBM Plex Sans" pitchFamily="34" charset="-122"/>
                <a:cs typeface="IBM Plex Sans" pitchFamily="34" charset="-120"/>
              </a:rPr>
              <a:t>An unsafe vital sign flags the patient and raises the ESI level.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812800" y="1872059"/>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0B981"/>
                </a:solidFill>
                <a:latin typeface="JetBrains Mono" pitchFamily="34" charset="0"/>
                <a:ea typeface="JetBrains Mono" pitchFamily="34" charset="-122"/>
                <a:cs typeface="JetBrains Mono" pitchFamily="34" charset="-120"/>
              </a:rPr>
              <a:t>02 · STREAMING STT</a:t>
            </a:r>
            <a:endParaRPr lang="en-US" sz="1200" dirty="0"/>
          </a:p>
        </p:txBody>
      </p:sp>
      <p:sp>
        <p:nvSpPr>
          <p:cNvPr id="3" name="Text 1"/>
          <p:cNvSpPr/>
          <p:nvPr/>
        </p:nvSpPr>
        <p:spPr>
          <a:xfrm>
            <a:off x="812800" y="2288580"/>
            <a:ext cx="4055110" cy="91936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EEF2F6"/>
                </a:solidFill>
                <a:latin typeface="IBM Plex Sans" pitchFamily="34" charset="0"/>
                <a:ea typeface="IBM Plex Sans" pitchFamily="34" charset="-122"/>
                <a:cs typeface="IBM Plex Sans" pitchFamily="34" charset="-120"/>
              </a:rPr>
              <a:t>The scribe hears who said what</a:t>
            </a:r>
            <a:endParaRPr lang="en-US" sz="3200" dirty="0"/>
          </a:p>
        </p:txBody>
      </p:sp>
      <p:sp>
        <p:nvSpPr>
          <p:cNvPr id="4" name="Text 2"/>
          <p:cNvSpPr/>
          <p:nvPr/>
        </p:nvSpPr>
        <p:spPr>
          <a:xfrm>
            <a:off x="812800" y="3385741"/>
            <a:ext cx="4055110" cy="16256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C9D3DE"/>
                </a:solidFill>
                <a:latin typeface="IBM Plex Sans" pitchFamily="34" charset="0"/>
                <a:ea typeface="IBM Plex Sans" pitchFamily="34" charset="-122"/>
                <a:cs typeface="IBM Plex Sans" pitchFamily="34" charset="-120"/>
              </a:rPr>
              <a:t>Universal-3.5 Pro with the medical-v1 domain for drug and body terms</a:t>
            </a:r>
            <a:endParaRPr lang="en-US" sz="1400" dirty="0"/>
          </a:p>
          <a:p>
            <a:pPr algn="l" marL="342900" indent="-342900">
              <a:lnSpc>
                <a:spcPts val="2100"/>
              </a:lnSpc>
              <a:buSzPct val="100000"/>
              <a:buChar char="•"/>
            </a:pPr>
            <a:r>
              <a:rPr lang="en-US" sz="1400" dirty="0">
                <a:solidFill>
                  <a:srgbClr val="C9D3DE"/>
                </a:solidFill>
                <a:latin typeface="IBM Plex Sans" pitchFamily="34" charset="0"/>
                <a:ea typeface="IBM Plex Sans" pitchFamily="34" charset="-122"/>
                <a:cs typeface="IBM Plex Sans" pitchFamily="34" charset="-120"/>
              </a:rPr>
              <a:t>Speaker labels split Doctor and Patient; one click swaps them</a:t>
            </a:r>
            <a:endParaRPr lang="en-US" sz="1400" dirty="0"/>
          </a:p>
          <a:p>
            <a:pPr algn="l" marL="342900" indent="-342900">
              <a:lnSpc>
                <a:spcPts val="2100"/>
              </a:lnSpc>
              <a:buSzPct val="100000"/>
              <a:buChar char="•"/>
            </a:pPr>
            <a:r>
              <a:rPr lang="en-US" sz="1400" dirty="0">
                <a:solidFill>
                  <a:srgbClr val="C9D3DE"/>
                </a:solidFill>
                <a:latin typeface="IBM Plex Sans" pitchFamily="34" charset="0"/>
                <a:ea typeface="IBM Plex Sans" pitchFamily="34" charset="-122"/>
                <a:cs typeface="IBM Plex Sans" pitchFamily="34" charset="-120"/>
              </a:rPr>
              <a:t>Final turns fill the chart: name, complaint, vitals, medicines</a:t>
            </a:r>
            <a:endParaRPr lang="en-US" sz="1400" dirty="0"/>
          </a:p>
        </p:txBody>
      </p:sp>
      <p:pic>
        <p:nvPicPr>
          <p:cNvPr id="5" name="Image 0" descr="Ambient scribe screen: diarized Doctor and Patient turns, chief complaint, blood pressure 150/95 and home medicines tramadol and sertraline">    </p:cNvPr>
          <p:cNvPicPr>
            <a:picLocks noChangeAspect="1"/>
          </p:cNvPicPr>
          <p:nvPr/>
        </p:nvPicPr>
        <p:blipFill>
          <a:blip r:embed="rId1"/>
          <a:srcRect l="0" r="0" t="-11306" b="-11306"/>
          <a:stretch/>
        </p:blipFill>
        <p:spPr>
          <a:xfrm>
            <a:off x="5162550" y="819150"/>
            <a:ext cx="6210300" cy="5219700"/>
          </a:xfrm>
          <a:prstGeom prst="rect">
            <a:avLst/>
          </a:prstGeom>
        </p:spPr>
      </p:pic>
      <p:sp>
        <p:nvSpPr>
          <p:cNvPr id="6" name="Shape 3"/>
          <p:cNvSpPr/>
          <p:nvPr/>
        </p:nvSpPr>
        <p:spPr>
          <a:xfrm>
            <a:off x="5159375" y="815975"/>
            <a:ext cx="6216650" cy="5226050"/>
          </a:xfrm>
          <a:prstGeom prst="rect">
            <a:avLst/>
          </a:prstGeom>
          <a:noFill/>
          <a:ln w="6350">
            <a:solidFill>
              <a:srgbClr val="24304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B981"/>
        </a:solidFill>
      </p:bgPr>
    </p:bg>
    <p:spTree>
      <p:nvGrpSpPr>
        <p:cNvPr id="1" name=""/>
        <p:cNvGrpSpPr/>
        <p:nvPr/>
      </p:nvGrpSpPr>
      <p:grpSpPr>
        <a:xfrm>
          <a:off x="0" y="0"/>
          <a:ext cx="0" cy="0"/>
          <a:chOff x="0" y="0"/>
          <a:chExt cx="0" cy="0"/>
        </a:xfrm>
      </p:grpSpPr>
      <p:sp>
        <p:nvSpPr>
          <p:cNvPr id="2" name="Text 0"/>
          <p:cNvSpPr/>
          <p:nvPr/>
        </p:nvSpPr>
        <p:spPr>
          <a:xfrm>
            <a:off x="812800" y="24486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4231A"/>
                </a:solidFill>
                <a:latin typeface="JetBrains Mono" pitchFamily="34" charset="0"/>
                <a:ea typeface="JetBrains Mono" pitchFamily="34" charset="-122"/>
                <a:cs typeface="JetBrains Mono" pitchFamily="34" charset="-120"/>
              </a:rPr>
              <a:t>03 · THE CORE IDEA</a:t>
            </a:r>
            <a:endParaRPr lang="en-US" sz="1200" dirty="0"/>
          </a:p>
        </p:txBody>
      </p:sp>
      <p:sp>
        <p:nvSpPr>
          <p:cNvPr id="3" name="Text 1"/>
          <p:cNvSpPr/>
          <p:nvPr/>
        </p:nvSpPr>
        <p:spPr>
          <a:xfrm>
            <a:off x="812800" y="291594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spc="-150" kern="0" dirty="0">
                <a:solidFill>
                  <a:srgbClr val="04231A"/>
                </a:solidFill>
                <a:latin typeface="IBM Plex Sans" pitchFamily="34" charset="0"/>
                <a:ea typeface="IBM Plex Sans" pitchFamily="34" charset="-122"/>
                <a:cs typeface="IBM Plex Sans" pitchFamily="34" charset="-120"/>
              </a:rPr>
              <a:t>Every SOAP line points to the words that were said.</a:t>
            </a:r>
            <a:endParaRPr lang="en-US" sz="5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47857"/>
                </a:solidFill>
                <a:latin typeface="JetBrains Mono" pitchFamily="34" charset="0"/>
                <a:ea typeface="JetBrains Mono" pitchFamily="34" charset="-122"/>
                <a:cs typeface="JetBrains Mono" pitchFamily="34" charset="-120"/>
              </a:rPr>
              <a:t>HOW CITATIONS ARE CHECKED</a:t>
            </a:r>
            <a:endParaRPr lang="en-US" sz="1200" dirty="0"/>
          </a:p>
        </p:txBody>
      </p:sp>
      <p:sp>
        <p:nvSpPr>
          <p:cNvPr id="3" name="Text 1"/>
          <p:cNvSpPr/>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0F1720"/>
                </a:solidFill>
                <a:latin typeface="IBM Plex Sans" pitchFamily="34" charset="0"/>
                <a:ea typeface="IBM Plex Sans" pitchFamily="34" charset="-122"/>
                <a:cs typeface="IBM Plex Sans" pitchFamily="34" charset="-120"/>
              </a:rPr>
              <a:t>The server checks the model's sources</a:t>
            </a:r>
            <a:endParaRPr lang="en-US" sz="3200" dirty="0"/>
          </a:p>
        </p:txBody>
      </p:sp>
      <p:sp>
        <p:nvSpPr>
          <p:cNvPr id="4" name="Shape 2"/>
          <p:cNvSpPr/>
          <p:nvPr/>
        </p:nvSpPr>
        <p:spPr>
          <a:xfrm>
            <a:off x="815975" y="2060476"/>
            <a:ext cx="2406650" cy="1888232"/>
          </a:xfrm>
          <a:prstGeom prst="roundRect">
            <a:avLst>
              <a:gd name="adj" fmla="val 5213"/>
            </a:avLst>
          </a:prstGeom>
          <a:solidFill>
            <a:srgbClr val="FFFFFC"/>
          </a:solidFill>
          <a:ln w="6350">
            <a:solidFill>
              <a:srgbClr val="D9DED6"/>
            </a:solidFill>
            <a:prstDash val="solid"/>
          </a:ln>
        </p:spPr>
      </p:sp>
      <p:sp>
        <p:nvSpPr>
          <p:cNvPr id="5" name="Text 3"/>
          <p:cNvSpPr/>
          <p:nvPr/>
        </p:nvSpPr>
        <p:spPr>
          <a:xfrm>
            <a:off x="1047750" y="2292251"/>
            <a:ext cx="200139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47857"/>
                </a:solidFill>
                <a:latin typeface="JetBrains Mono" pitchFamily="34" charset="0"/>
                <a:ea typeface="JetBrains Mono" pitchFamily="34" charset="-122"/>
                <a:cs typeface="JetBrains Mono" pitchFamily="34" charset="-120"/>
              </a:rPr>
              <a:t>T1 … Tn</a:t>
            </a:r>
            <a:endParaRPr lang="en-US" sz="1600" dirty="0"/>
          </a:p>
        </p:txBody>
      </p:sp>
      <p:sp>
        <p:nvSpPr>
          <p:cNvPr id="6" name="Text 4"/>
          <p:cNvSpPr/>
          <p:nvPr/>
        </p:nvSpPr>
        <p:spPr>
          <a:xfrm>
            <a:off x="1047750" y="2678311"/>
            <a:ext cx="20013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0"/>
                </a:solidFill>
                <a:latin typeface="IBM Plex Sans" pitchFamily="34" charset="0"/>
                <a:ea typeface="IBM Plex Sans" pitchFamily="34" charset="-122"/>
                <a:cs typeface="IBM Plex Sans" pitchFamily="34" charset="-120"/>
              </a:rPr>
              <a:t>Number the turns</a:t>
            </a:r>
            <a:endParaRPr lang="en-US" sz="1600" dirty="0"/>
          </a:p>
        </p:txBody>
      </p:sp>
      <p:sp>
        <p:nvSpPr>
          <p:cNvPr id="7" name="Text 5"/>
          <p:cNvSpPr/>
          <p:nvPr/>
        </p:nvSpPr>
        <p:spPr>
          <a:xfrm>
            <a:off x="1047750" y="3023691"/>
            <a:ext cx="20013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A47"/>
                </a:solidFill>
                <a:latin typeface="IBM Plex Sans" pitchFamily="34" charset="0"/>
                <a:ea typeface="IBM Plex Sans" pitchFamily="34" charset="-122"/>
                <a:cs typeface="IBM Plex Sans" pitchFamily="34" charset="-120"/>
              </a:rPr>
              <a:t>Each transcript turn gets an id before the model sees it.</a:t>
            </a:r>
            <a:endParaRPr lang="en-US" sz="1300" dirty="0"/>
          </a:p>
        </p:txBody>
      </p:sp>
      <p:pic>
        <p:nvPicPr>
          <p:cNvPr id="8" name="Image 0" descr="connector">    </p:cNvPr>
          <p:cNvPicPr>
            <a:picLocks noChangeAspect="1"/>
          </p:cNvPicPr>
          <p:nvPr/>
        </p:nvPicPr>
        <p:blipFill>
          <a:blip r:embed="rId1"/>
          <a:srcRect l="0" r="0" t="0" b="0"/>
          <a:stretch/>
        </p:blipFill>
        <p:spPr>
          <a:xfrm>
            <a:off x="3225800" y="2057301"/>
            <a:ext cx="304800" cy="76200"/>
          </a:xfrm>
          <a:prstGeom prst="rect">
            <a:avLst/>
          </a:prstGeom>
        </p:spPr>
      </p:pic>
      <p:sp>
        <p:nvSpPr>
          <p:cNvPr id="9" name="Shape 6"/>
          <p:cNvSpPr/>
          <p:nvPr/>
        </p:nvSpPr>
        <p:spPr>
          <a:xfrm>
            <a:off x="3533775" y="2060476"/>
            <a:ext cx="2406650" cy="1888232"/>
          </a:xfrm>
          <a:prstGeom prst="roundRect">
            <a:avLst>
              <a:gd name="adj" fmla="val 5213"/>
            </a:avLst>
          </a:prstGeom>
          <a:solidFill>
            <a:srgbClr val="FFFFFC"/>
          </a:solidFill>
          <a:ln w="6350">
            <a:solidFill>
              <a:srgbClr val="D9DED6"/>
            </a:solidFill>
            <a:prstDash val="solid"/>
          </a:ln>
        </p:spPr>
      </p:sp>
      <p:sp>
        <p:nvSpPr>
          <p:cNvPr id="10" name="Text 7"/>
          <p:cNvSpPr/>
          <p:nvPr/>
        </p:nvSpPr>
        <p:spPr>
          <a:xfrm>
            <a:off x="3765550" y="2292251"/>
            <a:ext cx="200139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47857"/>
                </a:solidFill>
                <a:latin typeface="JetBrains Mono" pitchFamily="34" charset="0"/>
                <a:ea typeface="JetBrains Mono" pitchFamily="34" charset="-122"/>
                <a:cs typeface="JetBrains Mono" pitchFamily="34" charset="-120"/>
              </a:rPr>
              <a:t>evidence</a:t>
            </a:r>
            <a:endParaRPr lang="en-US" sz="1600" dirty="0"/>
          </a:p>
        </p:txBody>
      </p:sp>
      <p:sp>
        <p:nvSpPr>
          <p:cNvPr id="11" name="Text 8"/>
          <p:cNvSpPr/>
          <p:nvPr/>
        </p:nvSpPr>
        <p:spPr>
          <a:xfrm>
            <a:off x="3765550" y="2678311"/>
            <a:ext cx="20013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0"/>
                </a:solidFill>
                <a:latin typeface="IBM Plex Sans" pitchFamily="34" charset="0"/>
                <a:ea typeface="IBM Plex Sans" pitchFamily="34" charset="-122"/>
                <a:cs typeface="IBM Plex Sans" pitchFamily="34" charset="-120"/>
              </a:rPr>
              <a:t>Model cites turns</a:t>
            </a:r>
            <a:endParaRPr lang="en-US" sz="1600" dirty="0"/>
          </a:p>
        </p:txBody>
      </p:sp>
      <p:sp>
        <p:nvSpPr>
          <p:cNvPr id="12" name="Text 9"/>
          <p:cNvSpPr/>
          <p:nvPr/>
        </p:nvSpPr>
        <p:spPr>
          <a:xfrm>
            <a:off x="3765550" y="3023691"/>
            <a:ext cx="20013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A47"/>
                </a:solidFill>
                <a:latin typeface="IBM Plex Sans" pitchFamily="34" charset="0"/>
                <a:ea typeface="IBM Plex Sans" pitchFamily="34" charset="-122"/>
                <a:cs typeface="IBM Plex Sans" pitchFamily="34" charset="-120"/>
              </a:rPr>
              <a:t>The model returns the note plus a map: item to turn ids.</a:t>
            </a:r>
            <a:endParaRPr lang="en-US" sz="1300" dirty="0"/>
          </a:p>
        </p:txBody>
      </p:sp>
      <p:pic>
        <p:nvPicPr>
          <p:cNvPr id="13" name="Image 1" descr="connector">    </p:cNvPr>
          <p:cNvPicPr>
            <a:picLocks noChangeAspect="1"/>
          </p:cNvPicPr>
          <p:nvPr/>
        </p:nvPicPr>
        <p:blipFill>
          <a:blip r:embed="rId2"/>
          <a:srcRect l="0" r="0" t="0" b="0"/>
          <a:stretch/>
        </p:blipFill>
        <p:spPr>
          <a:xfrm>
            <a:off x="5943600" y="2057301"/>
            <a:ext cx="304800" cy="76200"/>
          </a:xfrm>
          <a:prstGeom prst="rect">
            <a:avLst/>
          </a:prstGeom>
        </p:spPr>
      </p:pic>
      <p:sp>
        <p:nvSpPr>
          <p:cNvPr id="14" name="Shape 10"/>
          <p:cNvSpPr/>
          <p:nvPr/>
        </p:nvSpPr>
        <p:spPr>
          <a:xfrm>
            <a:off x="6251575" y="2060476"/>
            <a:ext cx="2406650" cy="1888232"/>
          </a:xfrm>
          <a:prstGeom prst="roundRect">
            <a:avLst>
              <a:gd name="adj" fmla="val 5213"/>
            </a:avLst>
          </a:prstGeom>
          <a:solidFill>
            <a:srgbClr val="FFFFFC"/>
          </a:solidFill>
          <a:ln w="6350">
            <a:solidFill>
              <a:srgbClr val="D9DED6"/>
            </a:solidFill>
            <a:prstDash val="solid"/>
          </a:ln>
        </p:spPr>
      </p:sp>
      <p:sp>
        <p:nvSpPr>
          <p:cNvPr id="15" name="Text 11"/>
          <p:cNvSpPr/>
          <p:nvPr/>
        </p:nvSpPr>
        <p:spPr>
          <a:xfrm>
            <a:off x="6483350" y="2292251"/>
            <a:ext cx="200139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47857"/>
                </a:solidFill>
                <a:latin typeface="JetBrains Mono" pitchFamily="34" charset="0"/>
                <a:ea typeface="JetBrains Mono" pitchFamily="34" charset="-122"/>
                <a:cs typeface="JetBrains Mono" pitchFamily="34" charset="-120"/>
              </a:rPr>
              <a:t>verify</a:t>
            </a:r>
            <a:endParaRPr lang="en-US" sz="1600" dirty="0"/>
          </a:p>
        </p:txBody>
      </p:sp>
      <p:sp>
        <p:nvSpPr>
          <p:cNvPr id="16" name="Text 12"/>
          <p:cNvSpPr/>
          <p:nvPr/>
        </p:nvSpPr>
        <p:spPr>
          <a:xfrm>
            <a:off x="6483350" y="2678311"/>
            <a:ext cx="20013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0"/>
                </a:solidFill>
                <a:latin typeface="IBM Plex Sans" pitchFamily="34" charset="0"/>
                <a:ea typeface="IBM Plex Sans" pitchFamily="34" charset="-122"/>
                <a:cs typeface="IBM Plex Sans" pitchFamily="34" charset="-120"/>
              </a:rPr>
              <a:t>Check each citation</a:t>
            </a:r>
            <a:endParaRPr lang="en-US" sz="1600" dirty="0"/>
          </a:p>
        </p:txBody>
      </p:sp>
      <p:sp>
        <p:nvSpPr>
          <p:cNvPr id="17" name="Text 13"/>
          <p:cNvSpPr/>
          <p:nvPr/>
        </p:nvSpPr>
        <p:spPr>
          <a:xfrm>
            <a:off x="6483350" y="3023691"/>
            <a:ext cx="20013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A47"/>
                </a:solidFill>
                <a:latin typeface="IBM Plex Sans" pitchFamily="34" charset="0"/>
                <a:ea typeface="IBM Plex Sans" pitchFamily="34" charset="-122"/>
                <a:cs typeface="IBM Plex Sans" pitchFamily="34" charset="-120"/>
              </a:rPr>
              <a:t>Word overlap with the real turn text. Wrong ids are fixed or dropped.</a:t>
            </a:r>
            <a:endParaRPr lang="en-US" sz="1300" dirty="0"/>
          </a:p>
        </p:txBody>
      </p:sp>
      <p:pic>
        <p:nvPicPr>
          <p:cNvPr id="18" name="Image 2" descr="connector">    </p:cNvPr>
          <p:cNvPicPr>
            <a:picLocks noChangeAspect="1"/>
          </p:cNvPicPr>
          <p:nvPr/>
        </p:nvPicPr>
        <p:blipFill>
          <a:blip r:embed="rId3"/>
          <a:srcRect l="0" r="0" t="0" b="0"/>
          <a:stretch/>
        </p:blipFill>
        <p:spPr>
          <a:xfrm>
            <a:off x="8661400" y="2057301"/>
            <a:ext cx="304800" cy="76200"/>
          </a:xfrm>
          <a:prstGeom prst="rect">
            <a:avLst/>
          </a:prstGeom>
        </p:spPr>
      </p:pic>
      <p:sp>
        <p:nvSpPr>
          <p:cNvPr id="19" name="Shape 14"/>
          <p:cNvSpPr/>
          <p:nvPr/>
        </p:nvSpPr>
        <p:spPr>
          <a:xfrm>
            <a:off x="8969375" y="2060476"/>
            <a:ext cx="2406650" cy="1888232"/>
          </a:xfrm>
          <a:prstGeom prst="roundRect">
            <a:avLst>
              <a:gd name="adj" fmla="val 5213"/>
            </a:avLst>
          </a:prstGeom>
          <a:solidFill>
            <a:srgbClr val="FFFFFC"/>
          </a:solidFill>
          <a:ln w="6350">
            <a:solidFill>
              <a:srgbClr val="D9DED6"/>
            </a:solidFill>
            <a:prstDash val="solid"/>
          </a:ln>
        </p:spPr>
      </p:sp>
      <p:sp>
        <p:nvSpPr>
          <p:cNvPr id="20" name="Text 15"/>
          <p:cNvSpPr/>
          <p:nvPr/>
        </p:nvSpPr>
        <p:spPr>
          <a:xfrm>
            <a:off x="9201150" y="2292251"/>
            <a:ext cx="200139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2318"/>
                </a:solidFill>
                <a:latin typeface="JetBrains Mono" pitchFamily="34" charset="0"/>
                <a:ea typeface="JetBrains Mono" pitchFamily="34" charset="-122"/>
                <a:cs typeface="JetBrains Mono" pitchFamily="34" charset="-120"/>
              </a:rPr>
              <a:t>NO SOURCE</a:t>
            </a:r>
            <a:endParaRPr lang="en-US" sz="1600" dirty="0"/>
          </a:p>
        </p:txBody>
      </p:sp>
      <p:sp>
        <p:nvSpPr>
          <p:cNvPr id="21" name="Text 16"/>
          <p:cNvSpPr/>
          <p:nvPr/>
        </p:nvSpPr>
        <p:spPr>
          <a:xfrm>
            <a:off x="9201150" y="2678311"/>
            <a:ext cx="20013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720"/>
                </a:solidFill>
                <a:latin typeface="IBM Plex Sans" pitchFamily="34" charset="0"/>
                <a:ea typeface="IBM Plex Sans" pitchFamily="34" charset="-122"/>
                <a:cs typeface="IBM Plex Sans" pitchFamily="34" charset="-120"/>
              </a:rPr>
              <a:t>Flag the rest</a:t>
            </a:r>
            <a:endParaRPr lang="en-US" sz="1600" dirty="0"/>
          </a:p>
        </p:txBody>
      </p:sp>
      <p:sp>
        <p:nvSpPr>
          <p:cNvPr id="22" name="Text 17"/>
          <p:cNvSpPr/>
          <p:nvPr/>
        </p:nvSpPr>
        <p:spPr>
          <a:xfrm>
            <a:off x="9201150" y="3023691"/>
            <a:ext cx="200139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3A47"/>
                </a:solidFill>
                <a:latin typeface="IBM Plex Sans" pitchFamily="34" charset="0"/>
                <a:ea typeface="IBM Plex Sans" pitchFamily="34" charset="-122"/>
                <a:cs typeface="IBM Plex Sans" pitchFamily="34" charset="-120"/>
              </a:rPr>
              <a:t>Items with no source are marked "NO SOURCE - VERIFY".</a:t>
            </a:r>
            <a:endParaRPr lang="en-US" sz="1300" dirty="0"/>
          </a:p>
        </p:txBody>
      </p:sp>
      <p:sp>
        <p:nvSpPr>
          <p:cNvPr id="23" name="Text 18"/>
          <p:cNvSpPr/>
          <p:nvPr/>
        </p:nvSpPr>
        <p:spPr>
          <a:xfrm>
            <a:off x="812800" y="440908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C3A47"/>
                </a:solidFill>
                <a:latin typeface="IBM Plex Sans" pitchFamily="34" charset="0"/>
                <a:ea typeface="IBM Plex Sans" pitchFamily="34" charset="-122"/>
                <a:cs typeface="IBM Plex Sans" pitchFamily="34" charset="-120"/>
              </a:rPr>
              <a:t>In the note, each T-chip opens the exact quote. The clinician checks a line in one click.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pic>
        <p:nvPicPr>
          <p:cNvPr id="2" name="Image 0" descr="Signed SOAP note for Maria Lopez: SOURCE-LINKED 9 of 9 items, a quote panel showing turn T7, and T-chips on each line">    </p:cNvPr>
          <p:cNvPicPr>
            <a:picLocks noChangeAspect="1"/>
          </p:cNvPicPr>
          <p:nvPr/>
        </p:nvPicPr>
        <p:blipFill>
          <a:blip r:embed="rId1"/>
          <a:srcRect l="0" r="0" t="-4554" b="-4554"/>
          <a:stretch/>
        </p:blipFill>
        <p:spPr>
          <a:xfrm>
            <a:off x="819150" y="819150"/>
            <a:ext cx="6591300" cy="5219700"/>
          </a:xfrm>
          <a:prstGeom prst="rect">
            <a:avLst/>
          </a:prstGeom>
        </p:spPr>
      </p:pic>
      <p:sp>
        <p:nvSpPr>
          <p:cNvPr id="3" name="Shape 0"/>
          <p:cNvSpPr/>
          <p:nvPr/>
        </p:nvSpPr>
        <p:spPr>
          <a:xfrm>
            <a:off x="815975" y="815975"/>
            <a:ext cx="6597650" cy="5226050"/>
          </a:xfrm>
          <a:prstGeom prst="rect">
            <a:avLst/>
          </a:prstGeom>
          <a:noFill/>
          <a:ln w="6350">
            <a:solidFill>
              <a:srgbClr val="243040"/>
            </a:solidFill>
            <a:prstDash val="solid"/>
          </a:ln>
        </p:spPr>
      </p:sp>
      <p:sp>
        <p:nvSpPr>
          <p:cNvPr id="4" name="Text 1"/>
          <p:cNvSpPr/>
          <p:nvPr/>
        </p:nvSpPr>
        <p:spPr>
          <a:xfrm>
            <a:off x="7823200" y="1695648"/>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0B981"/>
                </a:solidFill>
                <a:latin typeface="JetBrains Mono" pitchFamily="34" charset="0"/>
                <a:ea typeface="JetBrains Mono" pitchFamily="34" charset="-122"/>
                <a:cs typeface="JetBrains Mono" pitchFamily="34" charset="-120"/>
              </a:rPr>
              <a:t>REAL TEST RUN</a:t>
            </a:r>
            <a:endParaRPr lang="en-US" sz="1200" dirty="0"/>
          </a:p>
        </p:txBody>
      </p:sp>
      <p:sp>
        <p:nvSpPr>
          <p:cNvPr id="5" name="Text 2"/>
          <p:cNvSpPr/>
          <p:nvPr/>
        </p:nvSpPr>
        <p:spPr>
          <a:xfrm>
            <a:off x="7823200" y="2112169"/>
            <a:ext cx="3662680" cy="91936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EEF2F6"/>
                </a:solidFill>
                <a:latin typeface="IBM Plex Sans" pitchFamily="34" charset="0"/>
                <a:ea typeface="IBM Plex Sans" pitchFamily="34" charset="-122"/>
                <a:cs typeface="IBM Plex Sans" pitchFamily="34" charset="-120"/>
              </a:rPr>
              <a:t>9 of 9 items linked to a source</a:t>
            </a:r>
            <a:endParaRPr lang="en-US" sz="3200" dirty="0"/>
          </a:p>
        </p:txBody>
      </p:sp>
      <p:sp>
        <p:nvSpPr>
          <p:cNvPr id="6" name="Text 3"/>
          <p:cNvSpPr/>
          <p:nvPr/>
        </p:nvSpPr>
        <p:spPr>
          <a:xfrm>
            <a:off x="7823200" y="3209330"/>
            <a:ext cx="36626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3DE"/>
                </a:solidFill>
                <a:latin typeface="IBM Plex Sans" pitchFamily="34" charset="0"/>
                <a:ea typeface="IBM Plex Sans" pitchFamily="34" charset="-122"/>
                <a:cs typeface="IBM Plex Sans" pitchFamily="34" charset="-120"/>
              </a:rPr>
              <a:t>Click T7 and the note shows the quote: "I get hives."</a:t>
            </a:r>
            <a:endParaRPr lang="en-US" sz="1400" dirty="0"/>
          </a:p>
        </p:txBody>
      </p:sp>
      <p:sp>
        <p:nvSpPr>
          <p:cNvPr id="7" name="Text 4"/>
          <p:cNvSpPr/>
          <p:nvPr/>
        </p:nvSpPr>
        <p:spPr>
          <a:xfrm>
            <a:off x="7823200" y="3928070"/>
            <a:ext cx="36626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3DE"/>
                </a:solidFill>
                <a:latin typeface="IBM Plex Sans" pitchFamily="34" charset="0"/>
                <a:ea typeface="IBM Plex Sans" pitchFamily="34" charset="-122"/>
                <a:cs typeface="IBM Plex Sans" pitchFamily="34" charset="-120"/>
              </a:rPr>
              <a:t>Vitals nobody said stay "Not recorded during encounter".</a:t>
            </a:r>
            <a:endParaRPr lang="en-US" sz="1400" dirty="0"/>
          </a:p>
        </p:txBody>
      </p:sp>
      <p:sp>
        <p:nvSpPr>
          <p:cNvPr id="8" name="Text 5"/>
          <p:cNvSpPr/>
          <p:nvPr/>
        </p:nvSpPr>
        <p:spPr>
          <a:xfrm>
            <a:off x="7823200" y="4646811"/>
            <a:ext cx="36626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D3DE"/>
                </a:solidFill>
                <a:latin typeface="IBM Plex Sans" pitchFamily="34" charset="0"/>
                <a:ea typeface="IBM Plex Sans" pitchFamily="34" charset="-122"/>
                <a:cs typeface="IBM Plex Sans" pitchFamily="34" charset="-120"/>
              </a:rPr>
              <a:t>After sign-off the note shows SIGNED, the clinician's name and the time.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0B981"/>
                </a:solidFill>
                <a:latin typeface="JetBrains Mono" pitchFamily="34" charset="0"/>
                <a:ea typeface="JetBrains Mono" pitchFamily="34" charset="-122"/>
                <a:cs typeface="JetBrains Mono" pitchFamily="34" charset="-120"/>
              </a:rPr>
              <a:t>GUARDRAILS</a:t>
            </a:r>
            <a:endParaRPr lang="en-US" sz="1200" dirty="0"/>
          </a:p>
        </p:txBody>
      </p:sp>
      <p:sp>
        <p:nvSpPr>
          <p:cNvPr id="3" name="Text 1"/>
          <p:cNvSpPr/>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EEF2F6"/>
                </a:solidFill>
                <a:latin typeface="IBM Plex Sans" pitchFamily="34" charset="0"/>
                <a:ea typeface="IBM Plex Sans" pitchFamily="34" charset="-122"/>
                <a:cs typeface="IBM Plex Sans" pitchFamily="34" charset="-120"/>
              </a:rPr>
              <a:t>Rules the note cannot break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55701"/>
          <a:ext cx="10566400" cy="3087688"/>
        </p:xfrm>
        <a:graphic>
          <a:graphicData uri="http://schemas.openxmlformats.org/drawingml/2006/table">
            <a:tbl>
              <a:tblPr/>
              <a:tblGrid>
                <a:gridCol w="3381248"/>
                <a:gridCol w="7185152"/>
              </a:tblGrid>
              <a:tr h="385961">
                <a:tc>
                  <a:txBody>
                    <a:bodyPr/>
                    <a:lstStyle/>
                    <a:p>
                      <a:pPr indent="0" marL="0">
                        <a:lnSpc>
                          <a:spcPts val="1960"/>
                        </a:lnSpc>
                        <a:buNone/>
                      </a:pPr>
                      <a:r>
                        <a:rPr lang="en-US" sz="1400" b="1" dirty="0">
                          <a:solidFill>
                            <a:srgbClr val="6FD3AE"/>
                          </a:solidFill>
                          <a:latin typeface="IBM Plex Sans" pitchFamily="34" charset="0"/>
                          <a:ea typeface="IBM Plex Sans" pitchFamily="34" charset="-122"/>
                          <a:cs typeface="IBM Plex Sans" pitchFamily="34" charset="-120"/>
                        </a:rPr>
                        <a:t>If…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solidFill>
                      <a:srgbClr val="131A23"/>
                    </a:solidFill>
                  </a:tcPr>
                </a:tc>
                <a:tc>
                  <a:txBody>
                    <a:bodyPr/>
                    <a:lstStyle/>
                    <a:p>
                      <a:pPr indent="0" marL="0">
                        <a:lnSpc>
                          <a:spcPts val="1960"/>
                        </a:lnSpc>
                        <a:buNone/>
                      </a:pPr>
                      <a:r>
                        <a:rPr lang="en-US" sz="1400" b="1" dirty="0">
                          <a:solidFill>
                            <a:srgbClr val="6FD3AE"/>
                          </a:solidFill>
                          <a:latin typeface="IBM Plex Sans" pitchFamily="34" charset="0"/>
                          <a:ea typeface="IBM Plex Sans" pitchFamily="34" charset="-122"/>
                          <a:cs typeface="IBM Plex Sans" pitchFamily="34" charset="-120"/>
                        </a:rPr>
                        <a:t>The note does this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solidFill>
                      <a:srgbClr val="131A23"/>
                    </a:solidFill>
                  </a:tcPr>
                </a:tc>
              </a:tr>
              <a:tr h="385961">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A topic was not discussed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Says "Not discussed during encounter"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No allergy was stated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Leaves it open. Never defaults to NKDA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No diagnosis was stated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Shows no diagnosis or ICD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The AI suggests a differential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Labels it "AI-suggested (unconfirmed)"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The LLM call fails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Makes no note. No template fallback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Nobody has signed yet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Stays DRAFT; FHIR Composition is "preliminary"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r>
              <a:tr h="385961">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A clinician signs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c>
                  <a:txBody>
                    <a:bodyPr/>
                    <a:lstStyle/>
                    <a:p>
                      <a:pPr indent="0" marL="0">
                        <a:lnSpc>
                          <a:spcPts val="1960"/>
                        </a:lnSpc>
                        <a:buNone/>
                      </a:pPr>
                      <a:r>
                        <a:rPr lang="en-US" sz="1400" dirty="0">
                          <a:solidFill>
                            <a:srgbClr val="EEF2F6"/>
                          </a:solidFill>
                          <a:latin typeface="IBM Plex Sans" pitchFamily="34" charset="0"/>
                          <a:ea typeface="IBM Plex Sans" pitchFamily="34" charset="-122"/>
                          <a:cs typeface="IBM Plex Sans" pitchFamily="34" charset="-120"/>
                        </a:rPr>
                        <a:t>FHIR Composition becomes "final" with an attester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3D4146"/>
                      </a:solidFill>
                      <a:prstDash val="solid"/>
                      <a:round/>
                      <a:headEnd type="none" w="med" len="med"/>
                      <a:tailEnd type="none" w="med" len="med"/>
                    </a:lnL>
                    <a:lnR w="12700" cap="flat" cmpd="sng" algn="ctr">
                      <a:solidFill>
                        <a:srgbClr val="3D4146"/>
                      </a:solidFill>
                      <a:prstDash val="solid"/>
                      <a:round/>
                      <a:headEnd type="none" w="med" len="med"/>
                      <a:tailEnd type="none" w="med" len="med"/>
                    </a:lnR>
                    <a:lnT w="12700" cap="flat" cmpd="sng" algn="ctr">
                      <a:solidFill>
                        <a:srgbClr val="3D4146"/>
                      </a:solidFill>
                      <a:prstDash val="solid"/>
                      <a:round/>
                      <a:headEnd type="none" w="med" len="med"/>
                      <a:tailEnd type="none" w="med" len="med"/>
                    </a:lnT>
                    <a:lnB w="12700" cap="flat" cmpd="sng" algn="ctr">
                      <a:solidFill>
                        <a:srgbClr val="3D4146"/>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0B981"/>
                </a:solidFill>
                <a:latin typeface="JetBrains Mono" pitchFamily="34" charset="0"/>
                <a:ea typeface="JetBrains Mono" pitchFamily="34" charset="-122"/>
                <a:cs typeface="JetBrains Mono" pitchFamily="34" charset="-120"/>
              </a:rPr>
              <a:t>ARCHITECTURE</a:t>
            </a:r>
            <a:endParaRPr lang="en-US" sz="1200" dirty="0"/>
          </a:p>
        </p:txBody>
      </p:sp>
      <p:sp>
        <p:nvSpPr>
          <p:cNvPr id="3" name="Text 1"/>
          <p:cNvSpPr/>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EEF2F6"/>
                </a:solidFill>
                <a:latin typeface="IBM Plex Sans" pitchFamily="34" charset="0"/>
                <a:ea typeface="IBM Plex Sans" pitchFamily="34" charset="-122"/>
                <a:cs typeface="IBM Plex Sans" pitchFamily="34" charset="-120"/>
              </a:rPr>
              <a:t>The API key never reaches the browser</a:t>
            </a:r>
            <a:endParaRPr lang="en-US" sz="3200" dirty="0"/>
          </a:p>
        </p:txBody>
      </p:sp>
      <p:sp>
        <p:nvSpPr>
          <p:cNvPr id="4" name="Shape 2"/>
          <p:cNvSpPr/>
          <p:nvPr/>
        </p:nvSpPr>
        <p:spPr>
          <a:xfrm>
            <a:off x="815975" y="2938264"/>
            <a:ext cx="2787650" cy="1519932"/>
          </a:xfrm>
          <a:prstGeom prst="roundRect">
            <a:avLst>
              <a:gd name="adj" fmla="val 6476"/>
            </a:avLst>
          </a:prstGeom>
          <a:solidFill>
            <a:srgbClr val="131A23"/>
          </a:solidFill>
          <a:ln w="6350">
            <a:solidFill>
              <a:srgbClr val="243040"/>
            </a:solidFill>
            <a:prstDash val="solid"/>
          </a:ln>
        </p:spPr>
      </p:sp>
      <p:sp>
        <p:nvSpPr>
          <p:cNvPr id="5" name="Text 3"/>
          <p:cNvSpPr/>
          <p:nvPr/>
        </p:nvSpPr>
        <p:spPr>
          <a:xfrm>
            <a:off x="1047750" y="3170039"/>
            <a:ext cx="239382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2F6"/>
                </a:solidFill>
                <a:latin typeface="IBM Plex Sans" pitchFamily="34" charset="0"/>
                <a:ea typeface="IBM Plex Sans" pitchFamily="34" charset="-122"/>
                <a:cs typeface="IBM Plex Sans" pitchFamily="34" charset="-120"/>
              </a:rPr>
              <a:t>Browser</a:t>
            </a:r>
            <a:endParaRPr lang="en-US" sz="1800" dirty="0"/>
          </a:p>
        </p:txBody>
      </p:sp>
      <p:sp>
        <p:nvSpPr>
          <p:cNvPr id="6" name="Text 4"/>
          <p:cNvSpPr/>
          <p:nvPr/>
        </p:nvSpPr>
        <p:spPr>
          <a:xfrm>
            <a:off x="1047750" y="3533180"/>
            <a:ext cx="239382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8B8"/>
                </a:solidFill>
                <a:latin typeface="IBM Plex Sans" pitchFamily="34" charset="0"/>
                <a:ea typeface="IBM Plex Sans" pitchFamily="34" charset="-122"/>
                <a:cs typeface="IBM Plex Sans" pitchFamily="34" charset="-120"/>
              </a:rPr>
              <a:t>Next.js 14 + React. Web Audio: mic to PCM16, fixed 100 ms frames.</a:t>
            </a:r>
            <a:endParaRPr lang="en-US" sz="1300" dirty="0"/>
          </a:p>
        </p:txBody>
      </p:sp>
      <p:sp>
        <p:nvSpPr>
          <p:cNvPr id="7" name="Text 5"/>
          <p:cNvSpPr/>
          <p:nvPr/>
        </p:nvSpPr>
        <p:spPr>
          <a:xfrm>
            <a:off x="4429720" y="3357860"/>
            <a:ext cx="1605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E"/>
                </a:solidFill>
                <a:latin typeface="JetBrains Mono" pitchFamily="34" charset="0"/>
                <a:ea typeface="JetBrains Mono" pitchFamily="34" charset="-122"/>
                <a:cs typeface="JetBrains Mono" pitchFamily="34" charset="-120"/>
              </a:rPr>
              <a:t>direct WebSockets</a:t>
            </a:r>
            <a:endParaRPr lang="en-US" sz="1200" dirty="0"/>
          </a:p>
        </p:txBody>
      </p:sp>
      <p:pic>
        <p:nvPicPr>
          <p:cNvPr id="8" name="Image 0" descr="connector">    </p:cNvPr>
          <p:cNvPicPr>
            <a:picLocks noChangeAspect="1"/>
          </p:cNvPicPr>
          <p:nvPr/>
        </p:nvPicPr>
        <p:blipFill>
          <a:blip r:embed="rId1"/>
          <a:srcRect l="0" r="0" t="0" b="0"/>
          <a:stretch/>
        </p:blipFill>
        <p:spPr>
          <a:xfrm>
            <a:off x="4572000" y="3647380"/>
            <a:ext cx="1270000" cy="101600"/>
          </a:xfrm>
          <a:prstGeom prst="rect">
            <a:avLst/>
          </a:prstGeom>
        </p:spPr>
      </p:pic>
      <p:sp>
        <p:nvSpPr>
          <p:cNvPr id="9" name="Text 6"/>
          <p:cNvSpPr/>
          <p:nvPr/>
        </p:nvSpPr>
        <p:spPr>
          <a:xfrm>
            <a:off x="4429720" y="3825180"/>
            <a:ext cx="1605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8"/>
                </a:solidFill>
                <a:latin typeface="JetBrains Mono" pitchFamily="34" charset="0"/>
                <a:ea typeface="JetBrains Mono" pitchFamily="34" charset="-122"/>
                <a:cs typeface="JetBrains Mono" pitchFamily="34" charset="-120"/>
              </a:rPr>
              <a:t>short-lived token</a:t>
            </a:r>
            <a:endParaRPr lang="en-US" sz="1200" dirty="0"/>
          </a:p>
        </p:txBody>
      </p:sp>
      <p:sp>
        <p:nvSpPr>
          <p:cNvPr id="10" name="Shape 7"/>
          <p:cNvSpPr/>
          <p:nvPr/>
        </p:nvSpPr>
        <p:spPr>
          <a:xfrm>
            <a:off x="6810375" y="2270125"/>
            <a:ext cx="4565650" cy="880070"/>
          </a:xfrm>
          <a:prstGeom prst="roundRect">
            <a:avLst>
              <a:gd name="adj" fmla="val 8298"/>
            </a:avLst>
          </a:prstGeom>
          <a:solidFill>
            <a:srgbClr val="131A23"/>
          </a:solidFill>
          <a:ln w="6350">
            <a:solidFill>
              <a:srgbClr val="10B981"/>
            </a:solidFill>
            <a:prstDash val="solid"/>
          </a:ln>
        </p:spPr>
      </p:sp>
      <p:sp>
        <p:nvSpPr>
          <p:cNvPr id="11" name="Text 8"/>
          <p:cNvSpPr/>
          <p:nvPr/>
        </p:nvSpPr>
        <p:spPr>
          <a:xfrm>
            <a:off x="6991350" y="2451100"/>
            <a:ext cx="43298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2F6"/>
                </a:solidFill>
                <a:latin typeface="IBM Plex Sans" pitchFamily="34" charset="0"/>
                <a:ea typeface="IBM Plex Sans" pitchFamily="34" charset="-122"/>
                <a:cs typeface="IBM Plex Sans" pitchFamily="34" charset="-120"/>
              </a:rPr>
              <a:t>Voice Agent API</a:t>
            </a:r>
            <a:endParaRPr lang="en-US" sz="1500" dirty="0"/>
          </a:p>
        </p:txBody>
      </p:sp>
      <p:sp>
        <p:nvSpPr>
          <p:cNvPr id="12" name="Text 9"/>
          <p:cNvSpPr/>
          <p:nvPr/>
        </p:nvSpPr>
        <p:spPr>
          <a:xfrm>
            <a:off x="6991350" y="2755900"/>
            <a:ext cx="43298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8"/>
                </a:solidFill>
                <a:latin typeface="JetBrains Mono" pitchFamily="34" charset="0"/>
                <a:ea typeface="JetBrains Mono" pitchFamily="34" charset="-122"/>
                <a:cs typeface="JetBrains Mono" pitchFamily="34" charset="-120"/>
              </a:rPr>
              <a:t>24 kHz PCM · tool calls · barge-in</a:t>
            </a:r>
            <a:endParaRPr lang="en-US" sz="1200" dirty="0"/>
          </a:p>
        </p:txBody>
      </p:sp>
      <p:sp>
        <p:nvSpPr>
          <p:cNvPr id="13" name="Shape 10"/>
          <p:cNvSpPr/>
          <p:nvPr/>
        </p:nvSpPr>
        <p:spPr>
          <a:xfrm>
            <a:off x="6810375" y="3258145"/>
            <a:ext cx="4565650" cy="880070"/>
          </a:xfrm>
          <a:prstGeom prst="roundRect">
            <a:avLst>
              <a:gd name="adj" fmla="val 8298"/>
            </a:avLst>
          </a:prstGeom>
          <a:solidFill>
            <a:srgbClr val="131A23"/>
          </a:solidFill>
          <a:ln w="6350">
            <a:solidFill>
              <a:srgbClr val="10B981"/>
            </a:solidFill>
            <a:prstDash val="solid"/>
          </a:ln>
        </p:spPr>
      </p:sp>
      <p:sp>
        <p:nvSpPr>
          <p:cNvPr id="14" name="Text 11"/>
          <p:cNvSpPr/>
          <p:nvPr/>
        </p:nvSpPr>
        <p:spPr>
          <a:xfrm>
            <a:off x="6991350" y="3439120"/>
            <a:ext cx="43298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2F6"/>
                </a:solidFill>
                <a:latin typeface="IBM Plex Sans" pitchFamily="34" charset="0"/>
                <a:ea typeface="IBM Plex Sans" pitchFamily="34" charset="-122"/>
                <a:cs typeface="IBM Plex Sans" pitchFamily="34" charset="-120"/>
              </a:rPr>
              <a:t>Streaming STT v3</a:t>
            </a:r>
            <a:endParaRPr lang="en-US" sz="1500" dirty="0"/>
          </a:p>
        </p:txBody>
      </p:sp>
      <p:sp>
        <p:nvSpPr>
          <p:cNvPr id="15" name="Text 12"/>
          <p:cNvSpPr/>
          <p:nvPr/>
        </p:nvSpPr>
        <p:spPr>
          <a:xfrm>
            <a:off x="6991350" y="3743920"/>
            <a:ext cx="43298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8"/>
                </a:solidFill>
                <a:latin typeface="JetBrains Mono" pitchFamily="34" charset="0"/>
                <a:ea typeface="JetBrains Mono" pitchFamily="34" charset="-122"/>
                <a:cs typeface="JetBrains Mono" pitchFamily="34" charset="-120"/>
              </a:rPr>
              <a:t>16 kHz · universal-3-5-pro · medical-v1</a:t>
            </a:r>
            <a:endParaRPr lang="en-US" sz="1200" dirty="0"/>
          </a:p>
        </p:txBody>
      </p:sp>
      <p:sp>
        <p:nvSpPr>
          <p:cNvPr id="16" name="Shape 13"/>
          <p:cNvSpPr/>
          <p:nvPr/>
        </p:nvSpPr>
        <p:spPr>
          <a:xfrm>
            <a:off x="6810375" y="4246166"/>
            <a:ext cx="4565650" cy="880070"/>
          </a:xfrm>
          <a:prstGeom prst="roundRect">
            <a:avLst>
              <a:gd name="adj" fmla="val 8298"/>
            </a:avLst>
          </a:prstGeom>
          <a:solidFill>
            <a:srgbClr val="131A23"/>
          </a:solidFill>
          <a:ln w="6350">
            <a:solidFill>
              <a:srgbClr val="243040"/>
            </a:solidFill>
            <a:prstDash val="solid"/>
          </a:ln>
        </p:spPr>
      </p:sp>
      <p:sp>
        <p:nvSpPr>
          <p:cNvPr id="17" name="Text 14"/>
          <p:cNvSpPr/>
          <p:nvPr/>
        </p:nvSpPr>
        <p:spPr>
          <a:xfrm>
            <a:off x="6991350" y="4427141"/>
            <a:ext cx="43298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2F6"/>
                </a:solidFill>
                <a:latin typeface="IBM Plex Sans" pitchFamily="34" charset="0"/>
                <a:ea typeface="IBM Plex Sans" pitchFamily="34" charset="-122"/>
                <a:cs typeface="IBM Plex Sans" pitchFamily="34" charset="-120"/>
              </a:rPr>
              <a:t>LLM Gateway, via our server</a:t>
            </a:r>
            <a:endParaRPr lang="en-US" sz="1500" dirty="0"/>
          </a:p>
        </p:txBody>
      </p:sp>
      <p:sp>
        <p:nvSpPr>
          <p:cNvPr id="18" name="Text 15"/>
          <p:cNvSpPr/>
          <p:nvPr/>
        </p:nvSpPr>
        <p:spPr>
          <a:xfrm>
            <a:off x="6991350" y="4731941"/>
            <a:ext cx="43298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8"/>
                </a:solidFill>
                <a:latin typeface="JetBrains Mono" pitchFamily="34" charset="0"/>
                <a:ea typeface="JetBrains Mono" pitchFamily="34" charset="-122"/>
                <a:cs typeface="JetBrains Mono" pitchFamily="34" charset="-120"/>
              </a:rPr>
              <a:t>SOAP + evidence map · citation check</a:t>
            </a:r>
            <a:endParaRPr lang="en-US" sz="1200" dirty="0"/>
          </a:p>
        </p:txBody>
      </p:sp>
      <p:sp>
        <p:nvSpPr>
          <p:cNvPr id="19" name="Text 16"/>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IBM Plex Sans" pitchFamily="34" charset="0"/>
                <a:ea typeface="IBM Plex Sans" pitchFamily="34" charset="-122"/>
                <a:cs typeface="IBM Plex Sans" pitchFamily="34" charset="-120"/>
              </a:rPr>
              <a:t>Next.js API routes mint the tokens and call the LLM. Deployed on Vercel.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47857"/>
                </a:solidFill>
                <a:latin typeface="JetBrains Mono" pitchFamily="34" charset="0"/>
                <a:ea typeface="JetBrains Mono" pitchFamily="34" charset="-122"/>
                <a:cs typeface="JetBrains Mono" pitchFamily="34" charset="-120"/>
              </a:rPr>
              <a:t>BUSINESS VALUE</a:t>
            </a:r>
            <a:endParaRPr lang="en-US" sz="1200" dirty="0"/>
          </a:p>
        </p:txBody>
      </p:sp>
      <p:sp>
        <p:nvSpPr>
          <p:cNvPr id="3" name="Text 1"/>
          <p:cNvSpPr/>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0F1720"/>
                </a:solidFill>
                <a:latin typeface="IBM Plex Sans" pitchFamily="34" charset="0"/>
                <a:ea typeface="IBM Plex Sans" pitchFamily="34" charset="-122"/>
                <a:cs typeface="IBM Plex Sans" pitchFamily="34" charset="-120"/>
              </a:rPr>
              <a:t>Faster notes that can pass an audit</a:t>
            </a:r>
            <a:endParaRPr lang="en-US" sz="3200" dirty="0"/>
          </a:p>
        </p:txBody>
      </p:sp>
      <p:sp>
        <p:nvSpPr>
          <p:cNvPr id="4" name="Text 2"/>
          <p:cNvSpPr/>
          <p:nvPr/>
        </p:nvSpPr>
        <p:spPr>
          <a:xfrm>
            <a:off x="812800" y="2006501"/>
            <a:ext cx="499040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720"/>
                </a:solidFill>
                <a:latin typeface="IBM Plex Sans" pitchFamily="34" charset="0"/>
                <a:ea typeface="IBM Plex Sans" pitchFamily="34" charset="-122"/>
                <a:cs typeface="IBM Plex Sans" pitchFamily="34" charset="-120"/>
              </a:rPr>
              <a:t>Who it is for</a:t>
            </a:r>
            <a:endParaRPr lang="en-US" sz="1800" dirty="0"/>
          </a:p>
        </p:txBody>
      </p:sp>
      <p:sp>
        <p:nvSpPr>
          <p:cNvPr id="5" name="Text 3"/>
          <p:cNvSpPr/>
          <p:nvPr/>
        </p:nvSpPr>
        <p:spPr>
          <a:xfrm>
            <a:off x="812800" y="2433141"/>
            <a:ext cx="4990402"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Emergency departments and urgent care</a:t>
            </a:r>
            <a:endParaRPr lang="en-US" sz="1400" dirty="0"/>
          </a:p>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Clinicians: less typing, one-click checks</a:t>
            </a:r>
            <a:endParaRPr lang="en-US" sz="1400" dirty="0"/>
          </a:p>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Hospitals: every line has an audit trail</a:t>
            </a:r>
            <a:endParaRPr lang="en-US" sz="1400" dirty="0"/>
          </a:p>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EHR teams: standard HL7 FHIR R4 output</a:t>
            </a:r>
            <a:endParaRPr lang="en-US" sz="1400" dirty="0"/>
          </a:p>
        </p:txBody>
      </p:sp>
      <p:sp>
        <p:nvSpPr>
          <p:cNvPr id="6" name="Shape 4"/>
          <p:cNvSpPr/>
          <p:nvPr/>
        </p:nvSpPr>
        <p:spPr>
          <a:xfrm>
            <a:off x="5965825" y="2009676"/>
            <a:ext cx="5410200" cy="3829149"/>
          </a:xfrm>
          <a:prstGeom prst="roundRect">
            <a:avLst>
              <a:gd name="adj" fmla="val 2570"/>
            </a:avLst>
          </a:prstGeom>
          <a:solidFill>
            <a:srgbClr val="FFFFFC"/>
          </a:solidFill>
          <a:ln w="6350">
            <a:solidFill>
              <a:srgbClr val="D9DED6"/>
            </a:solidFill>
            <a:prstDash val="solid"/>
          </a:ln>
        </p:spPr>
      </p:sp>
      <p:sp>
        <p:nvSpPr>
          <p:cNvPr id="7" name="Text 5"/>
          <p:cNvSpPr/>
          <p:nvPr/>
        </p:nvSpPr>
        <p:spPr>
          <a:xfrm>
            <a:off x="6248400" y="2292251"/>
            <a:ext cx="499040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720"/>
                </a:solidFill>
                <a:latin typeface="IBM Plex Sans" pitchFamily="34" charset="0"/>
                <a:ea typeface="IBM Plex Sans" pitchFamily="34" charset="-122"/>
                <a:cs typeface="IBM Plex Sans" pitchFamily="34" charset="-120"/>
              </a:rPr>
              <a:t>Next steps</a:t>
            </a:r>
            <a:endParaRPr lang="en-US" sz="1800" dirty="0"/>
          </a:p>
        </p:txBody>
      </p:sp>
      <p:sp>
        <p:nvSpPr>
          <p:cNvPr id="8" name="Text 6"/>
          <p:cNvSpPr/>
          <p:nvPr/>
        </p:nvSpPr>
        <p:spPr>
          <a:xfrm>
            <a:off x="6248400" y="2718891"/>
            <a:ext cx="4990402"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A stronger LLM for SOAP synthesis</a:t>
            </a:r>
            <a:endParaRPr lang="en-US" sz="1400" dirty="0"/>
          </a:p>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A full drug database in place of the demo list</a:t>
            </a:r>
            <a:endParaRPr lang="en-US" sz="1400" dirty="0"/>
          </a:p>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HIPAA-ready hosting and a pilot with one clinic</a:t>
            </a:r>
            <a:endParaRPr lang="en-US" sz="1400" dirty="0"/>
          </a:p>
          <a:p>
            <a:pPr algn="l" marL="342900" indent="-342900">
              <a:lnSpc>
                <a:spcPts val="2100"/>
              </a:lnSpc>
              <a:buSzPct val="100000"/>
              <a:buChar char="•"/>
            </a:pPr>
            <a:r>
              <a:rPr lang="en-US" sz="1400" dirty="0">
                <a:solidFill>
                  <a:srgbClr val="2C3A47"/>
                </a:solidFill>
                <a:latin typeface="IBM Plex Sans" pitchFamily="34" charset="0"/>
                <a:ea typeface="IBM Plex Sans" pitchFamily="34" charset="-122"/>
                <a:cs typeface="IBM Plex Sans" pitchFamily="34" charset="-120"/>
              </a:rPr>
              <a:t>Write signed notes back into the EHR</a:t>
            </a:r>
            <a:endParaRPr lang="en-US" sz="14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5"/>
                </a:solidFill>
                <a:latin typeface="IBM Plex Sans" pitchFamily="34" charset="0"/>
                <a:ea typeface="IBM Plex Sans" pitchFamily="34" charset="-122"/>
                <a:cs typeface="IBM Plex Sans" pitchFamily="34" charset="-120"/>
              </a:rPr>
              <a:t>Hackathon prototype. Not a medical device. The drug-interaction list is a small demo set.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pic>
        <p:nvPicPr>
          <p:cNvPr id="2" name="Image 0" descr="Heartbeat line">    </p:cNvPr>
          <p:cNvPicPr>
            <a:picLocks noChangeAspect="1"/>
          </p:cNvPicPr>
          <p:nvPr/>
        </p:nvPicPr>
        <p:blipFill>
          <a:blip r:embed="rId1"/>
          <a:srcRect l="0" r="0" t="0" b="0"/>
          <a:stretch/>
        </p:blipFill>
        <p:spPr>
          <a:xfrm>
            <a:off x="812800" y="1845370"/>
            <a:ext cx="3302000" cy="508000"/>
          </a:xfrm>
          <a:prstGeom prst="rect">
            <a:avLst/>
          </a:prstGeom>
        </p:spPr>
      </p:pic>
      <p:sp>
        <p:nvSpPr>
          <p:cNvPr id="3" name="Text 0"/>
          <p:cNvSpPr/>
          <p:nvPr/>
        </p:nvSpPr>
        <p:spPr>
          <a:xfrm>
            <a:off x="812800" y="2658170"/>
            <a:ext cx="10883392"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EEF2F6"/>
                </a:solidFill>
                <a:latin typeface="IBM Plex Sans" pitchFamily="34" charset="0"/>
                <a:ea typeface="IBM Plex Sans" pitchFamily="34" charset="-122"/>
                <a:cs typeface="IBM Plex Sans" pitchFamily="34" charset="-120"/>
              </a:rPr>
              <a:t>Try MediScribe Live</a:t>
            </a:r>
            <a:endParaRPr lang="en-US" sz="5600" dirty="0"/>
          </a:p>
        </p:txBody>
      </p:sp>
      <p:sp>
        <p:nvSpPr>
          <p:cNvPr id="4" name="Text 1"/>
          <p:cNvSpPr/>
          <p:nvPr/>
        </p:nvSpPr>
        <p:spPr>
          <a:xfrm>
            <a:off x="812800" y="367417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6FD3AE"/>
                </a:solidFill>
                <a:latin typeface="JetBrains Mono" pitchFamily="34" charset="0"/>
                <a:ea typeface="JetBrains Mono" pitchFamily="34" charset="-122"/>
                <a:cs typeface="JetBrains Mono" pitchFamily="34" charset="-120"/>
              </a:rPr>
              <a:t>mediscribe.rhasan.online</a:t>
            </a:r>
            <a:endParaRPr lang="en-US" sz="1800" dirty="0"/>
          </a:p>
        </p:txBody>
      </p:sp>
      <p:sp>
        <p:nvSpPr>
          <p:cNvPr id="5" name="Text 2"/>
          <p:cNvSpPr/>
          <p:nvPr/>
        </p:nvSpPr>
        <p:spPr>
          <a:xfrm>
            <a:off x="812800" y="412115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E"/>
                </a:solidFill>
                <a:latin typeface="JetBrains Mono" pitchFamily="34" charset="0"/>
                <a:ea typeface="JetBrains Mono" pitchFamily="34" charset="-122"/>
                <a:cs typeface="JetBrains Mono" pitchFamily="34" charset="-120"/>
              </a:rPr>
              <a:t>github.com/Daddy-Ousen/mediscribe-live</a:t>
            </a:r>
            <a:endParaRPr lang="en-US" sz="1800" dirty="0"/>
          </a:p>
        </p:txBody>
      </p:sp>
      <p:sp>
        <p:nvSpPr>
          <p:cNvPr id="6" name="Text 3"/>
          <p:cNvSpPr/>
          <p:nvPr/>
        </p:nvSpPr>
        <p:spPr>
          <a:xfrm>
            <a:off x="812800" y="47459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AA8B8"/>
                </a:solidFill>
                <a:latin typeface="IBM Plex Sans" pitchFamily="34" charset="0"/>
                <a:ea typeface="IBM Plex Sans" pitchFamily="34" charset="-122"/>
                <a:cs typeface="IBM Plex Sans" pitchFamily="34" charset="-120"/>
              </a:rPr>
              <a:t>Built with AssemblyAI Voice Agent API, Streaming STT and LLM Gateway. MIT License.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MediScribe Live</dc:title>
  <dc:subject>PptxGenJS Presentation</dc:subject>
  <dc:creator>PptxGenJS</dc:creator>
  <cp:lastModifiedBy>PptxGenJS</cp:lastModifiedBy>
  <cp:revision>1</cp:revision>
  <dcterms:created xsi:type="dcterms:W3CDTF">2026-09-22T00:07:53Z</dcterms:created>
  <dcterms:modified xsi:type="dcterms:W3CDTF">2026-09-22T00:07:53Z</dcterms:modified>
</cp:coreProperties>
</file>